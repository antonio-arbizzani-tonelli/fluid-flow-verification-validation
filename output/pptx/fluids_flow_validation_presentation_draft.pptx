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7797e2e7ef4aca" /><Relationship Type="http://schemas.openxmlformats.org/officeDocument/2006/relationships/extended-properties" Target="/docProps/app.xml" Id="Rdc43c211e2394c31" /><Relationship Type="http://schemas.openxmlformats.org/officeDocument/2006/relationships/officeDocument" Target="/ppt/presentation.xml" Id="R705eaffef49c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6dad07d304f3f"/>
  </p:sldMasterIdLst>
  <p:notesMasterIdLst>
    <p:notesMasterId xmlns:r="http://schemas.openxmlformats.org/officeDocument/2006/relationships" r:id="Rd4fa51dd9ea3425b"/>
  </p:notesMasterIdLst>
  <p:sldIdLst>
    <p:sldId xmlns:r="http://schemas.openxmlformats.org/officeDocument/2006/relationships" id="256" r:id="Rbe535fe5a55e4862"/>
    <p:sldId xmlns:r="http://schemas.openxmlformats.org/officeDocument/2006/relationships" id="257" r:id="Ra54e3e1207854153"/>
    <p:sldId xmlns:r="http://schemas.openxmlformats.org/officeDocument/2006/relationships" id="258" r:id="R47bd6cc3d9fa4482"/>
    <p:sldId xmlns:r="http://schemas.openxmlformats.org/officeDocument/2006/relationships" id="259" r:id="Rabdfeec99c1044cf"/>
    <p:sldId xmlns:r="http://schemas.openxmlformats.org/officeDocument/2006/relationships" id="260" r:id="R1126b5ecede846b1"/>
    <p:sldId xmlns:r="http://schemas.openxmlformats.org/officeDocument/2006/relationships" id="261" r:id="Ra250f6b15a264d6b"/>
    <p:sldId xmlns:r="http://schemas.openxmlformats.org/officeDocument/2006/relationships" id="262" r:id="R93bc3862ceed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dd16b4d9d4161" /><Relationship Type="http://schemas.openxmlformats.org/officeDocument/2006/relationships/slideMaster" Target="/ppt/slideMasters/slideMaster1.xml" Id="Rd856dad07d304f3f" /><Relationship Type="http://schemas.openxmlformats.org/officeDocument/2006/relationships/notesMaster" Target="/ppt/notesMasters/notesMaster1.xml" Id="Rd4fa51dd9ea3425b" /><Relationship Type="http://schemas.openxmlformats.org/officeDocument/2006/relationships/presProps" Target="/ppt/presProps.xml" Id="Rd24d3954eb964ffd" /><Relationship Type="http://schemas.openxmlformats.org/officeDocument/2006/relationships/tableStyles" Target="/ppt/tableStyles.xml" Id="R6a732011ab6745f4" /><Relationship Type="http://schemas.openxmlformats.org/officeDocument/2006/relationships/slide" Target="/ppt/slides/slide1.xml" Id="Rbe535fe5a55e4862" /><Relationship Type="http://schemas.openxmlformats.org/officeDocument/2006/relationships/slide" Target="/ppt/slides/slide2.xml" Id="Ra54e3e1207854153" /><Relationship Type="http://schemas.openxmlformats.org/officeDocument/2006/relationships/slide" Target="/ppt/slides/slide3.xml" Id="R47bd6cc3d9fa4482" /><Relationship Type="http://schemas.openxmlformats.org/officeDocument/2006/relationships/slide" Target="/ppt/slides/slide4.xml" Id="Rabdfeec99c1044cf" /><Relationship Type="http://schemas.openxmlformats.org/officeDocument/2006/relationships/slide" Target="/ppt/slides/slide5.xml" Id="R1126b5ecede846b1" /><Relationship Type="http://schemas.openxmlformats.org/officeDocument/2006/relationships/slide" Target="/ppt/slides/slide6.xml" Id="Ra250f6b15a264d6b" /><Relationship Type="http://schemas.openxmlformats.org/officeDocument/2006/relationships/slide" Target="/ppt/slides/slide7.xml" Id="R93bc3862ceed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73a7c2065f40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640a67f4ca4888" /><Relationship Type="http://schemas.openxmlformats.org/officeDocument/2006/relationships/notesMaster" Target="/ppt/notesMasters/notesMaster1.xml" Id="Rf8d217e16df6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145e3289574119" /><Relationship Type="http://schemas.openxmlformats.org/officeDocument/2006/relationships/notesMaster" Target="/ppt/notesMasters/notesMaster1.xml" Id="Rfc6423d7aa13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8a234d98a54f84" /><Relationship Type="http://schemas.openxmlformats.org/officeDocument/2006/relationships/notesMaster" Target="/ppt/notesMasters/notesMaster1.xml" Id="R6be73bc21a694a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f021ad0fc54009" /><Relationship Type="http://schemas.openxmlformats.org/officeDocument/2006/relationships/notesMaster" Target="/ppt/notesMasters/notesMaster1.xml" Id="Rc3df92f688ce4d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911ebf5816492b" /><Relationship Type="http://schemas.openxmlformats.org/officeDocument/2006/relationships/notesMaster" Target="/ppt/notesMasters/notesMaster1.xml" Id="R2a3248350d6b4b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bf5c6e4a2c4f14" /><Relationship Type="http://schemas.openxmlformats.org/officeDocument/2006/relationships/notesMaster" Target="/ppt/notesMasters/notesMaster1.xml" Id="Rf3b7335993594d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bafaa392c949f1" /><Relationship Type="http://schemas.openxmlformats.org/officeDocument/2006/relationships/notesMaster" Target="/ppt/notesMasters/notesMaster1.xml" Id="Rfe9ef9a9549d49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slide. State the scope: numerical verification and validation in pipe flows, then experimental force and wake analysis around a circular cylinder.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work packages. Avoid claiming that the pipe CFD validates the cylinder experiment. The relationship is methodological: references, calibration, uncertainty, and reproducible post-processing.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case to establish the numerical verification logic. The full profile, rather than only one scalar output, is compared with the Poiseuille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comparison as configuration-specific. Wall treatment, near-wall resolution, and boundary conditions influence the result. The standard k-e model gives the closest friction-factor estimate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that calibration does not only provide a conversion factor. It also gives a quantitative residual error that frames the interpretation of force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lift remains close to zero after buoyancy correction, whereas the time history contains the unsteady wake contribution. The spectral peak gives the dominant shedding frequency.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reproducibility statement. Mention the remaining data-rights check and the choice to keep proprietary PHOENICS runtime files outside version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f9c84c62d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1276317b3d4a63" /><Relationship Type="http://schemas.openxmlformats.org/officeDocument/2006/relationships/slideLayout" Target="/ppt/slideLayouts/slideLayout1.xml" Id="R37c6b26eeae249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6b26eeae249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86c272e2d4d98" /><Relationship Type="http://schemas.openxmlformats.org/officeDocument/2006/relationships/notesSlide" Target="/ppt/notesSlides/notesSlide1.xml" Id="R4dfb5d4cdd95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c783dea284b29" /><Relationship Type="http://schemas.openxmlformats.org/officeDocument/2006/relationships/notesSlide" Target="/ppt/notesSlides/notesSlide2.xml" Id="Rb532186658424b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91b9ed189473a" /><Relationship Type="http://schemas.openxmlformats.org/officeDocument/2006/relationships/image" Target="/ppt/media/image.png" Id="R29ccb49e7e8842f7" /><Relationship Type="http://schemas.openxmlformats.org/officeDocument/2006/relationships/notesSlide" Target="/ppt/notesSlides/notesSlide3.xml" Id="R49d3cd10246f4d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fb4b970bf4e5a" /><Relationship Type="http://schemas.openxmlformats.org/officeDocument/2006/relationships/image" Target="/ppt/media/image2.png" Id="Rd99351e4bb0a40bd" /><Relationship Type="http://schemas.openxmlformats.org/officeDocument/2006/relationships/notesSlide" Target="/ppt/notesSlides/notesSlide4.xml" Id="Rc8b9f99df16b4d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e4f66e5d24b71" /><Relationship Type="http://schemas.openxmlformats.org/officeDocument/2006/relationships/image" Target="/ppt/media/image3.png" Id="R53e011f1fa4845fb" /><Relationship Type="http://schemas.openxmlformats.org/officeDocument/2006/relationships/notesSlide" Target="/ppt/notesSlides/notesSlide5.xml" Id="R9ce9224e784248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6248d8c524ae8" /><Relationship Type="http://schemas.openxmlformats.org/officeDocument/2006/relationships/image" Target="/ppt/media/image4.png" Id="Rcbab61e4f6ee4daf" /><Relationship Type="http://schemas.openxmlformats.org/officeDocument/2006/relationships/image" Target="/ppt/media/image5.png" Id="Re9f0ea9f59214277" /><Relationship Type="http://schemas.openxmlformats.org/officeDocument/2006/relationships/notesSlide" Target="/ppt/notesSlides/notesSlide6.xml" Id="R18af189c719e41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c632ac024ff0" /><Relationship Type="http://schemas.openxmlformats.org/officeDocument/2006/relationships/notesSlide" Target="/ppt/notesSlides/notesSlide7.xml" Id="Rc6288445f08d4e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932F-26FD-49C4-8AB6-2DBBFA8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B118-AF5F-46DF-A862-1E12101A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 and Validation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 Canonical Fluid 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3AF9A-63CF-4527-BCEA-B3C74B2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Numerical analysis of internal flows and experimental characterisation of a circular-cylinder wake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48E86-F07D-491F-9542-C56ADBA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Anton</a:t>
            </a:r>
          </a:p>
          <a:p xmlns:a="http://schemas.openxmlformats.org/drawingml/2006/main">
            <a:pPr>
              <a:defRPr sz="12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MSc in Mathematical Engineering</a:t>
            </a:r>
          </a:p>
          <a:p xmlns:a="http://schemas.openxmlformats.org/drawingml/2006/main">
            <a:pPr>
              <a:defRPr sz="12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Academic year 2025--2026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32B8B-27BA-49CA-9D60-9FEE1C3E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5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Repository draft</a:t>
            </a:r>
          </a:p>
        </p:txBody>
      </p:sp>
    </p:spTree>
    <p:extLst>
      <p:ext uri="{BB962C8B-B14F-4D97-AF65-F5344CB8AC3E}">
        <p14:creationId xmlns:p14="http://schemas.microsoft.com/office/powerpoint/2010/main" val="1383239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2AA16-C9D3-4D33-9B41-D0355EB7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Methodological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AE536-1969-4B4A-B126-869EC91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6FDEA-5F66-41E7-B3EA-9EDEA9D9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The common thread is model assessment and measurement traceability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37AC7-3A1B-40A0-B67C-9549A2F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383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3E86F-284C-498B-A092-C0B7D8D1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Numerical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46EC3-B58F-4ABA-959C-480A6FB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Laminar pipe flow</a:t>
            </a:r>
          </a:p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Analytical verification against Poiseuille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Turbulent pipe flow</a:t>
            </a:r>
          </a:p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RANS-model comparison against velocity profiles and friction factor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0F973-59B3-4924-BE13-F3343AAC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Experimental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F766C-8595-464C-BD5A-90D4AA2C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09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Load-cell calibration</a:t>
            </a:r>
          </a:p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Transfer function and residual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Circular cylinder</a:t>
            </a:r>
          </a:p>
          <a:p xmlns:a="http://schemas.openxmlformats.org/drawingml/2006/main">
            <a:pPr>
              <a:defRPr sz="16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Mean force coefficients and lift-spectrum peak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B98C6-8290-4286-AA49-44815CBE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87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The pipe and cylinder cases do not provide a direct numerical--experimental comparison. They share a reproducible validation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9CA1E-B527-4EF7-B7AD-8F7F30A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6AB94-401C-45B0-B132-A3A0FF84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Verification and validation of canonical fluid 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84427-55AE-4B4A-A554-3ECF4047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0172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2E7F7-C49D-4329-A4D1-16BA0CD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Laminar pipe-flow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CE1B2-5BC9-418E-B84F-651232B9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E88B2-A98F-4D1B-A7C8-4F994236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The fully developed profile provides an analytical benchmark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cb49e7e8842f7"/>
          <a:stretch xmlns:a="http://schemas.openxmlformats.org/drawingml/2006/main"/>
        </p:blipFill>
        <p:spPr>
          <a:xfrm xmlns:a="http://schemas.openxmlformats.org/drawingml/2006/main">
            <a:off x="1324395" y="1762125"/>
            <a:ext cx="5961810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D55C6-25A1-4B6B-8991-76470F9A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Reference relation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2B015-C196-4B6F-8091-BD857EA7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w/W_b = 2[1 - (r/R)^2]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5254E-44D1-4AFE-A4C8-834E612B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The extracted profile follows the expected parabolic distribution in the fully developed region.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C455C-29FB-4CE9-BBEA-F35861CF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Numerical bulk velocity</a:t>
            </a:r>
          </a:p>
          <a:p xmlns:a="http://schemas.openxmlformats.org/drawingml/2006/main">
            <a:pPr>
              <a:defRPr sz="1500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0.4523 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5F34F-36FD-4BDF-A879-9F61D208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56FF6-85C5-4CB7-B6B8-D0A1B20A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Verification and validation of canonical fluid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C3A8B-0C92-4A31-9A5B-8C87A0A1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7454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3DE20-EE6C-4FAD-8ECA-17C52456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Turbulent pipe-flow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74F6-2869-46F6-B11E-415B5F6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4B2E-7E8C-4460-8373-27F25B3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Velocity profiles and friction factor discriminate the selected turbulence closures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351e4bb0a40bd"/>
          <a:stretch xmlns:a="http://schemas.openxmlformats.org/drawingml/2006/main"/>
        </p:blipFill>
        <p:spPr>
          <a:xfrm xmlns:a="http://schemas.openxmlformats.org/drawingml/2006/main">
            <a:off x="1146904" y="1762125"/>
            <a:ext cx="5983418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5D270-B25E-4E19-A30B-E092A4BC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Re_b = 75,000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548D6-AA3F-4EF1-8D3B-283AEAC5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Reference friction factor</a:t>
            </a:r>
          </a:p>
          <a:p xmlns:a="http://schemas.openxmlformats.org/drawingml/2006/main">
            <a:pPr>
              <a:defRPr sz="1575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f = 0.0190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AC73B-6A92-4E0C-A033-4B591670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Standard k-e</a:t>
            </a:r>
          </a:p>
          <a:p xmlns:a="http://schemas.openxmlformats.org/drawingml/2006/main">
            <a:pPr>
              <a:defRPr sz="1575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f = 0.01898</a:t>
            </a:r>
          </a:p>
          <a:p xmlns:a="http://schemas.openxmlformats.org/drawingml/2006/main">
            <a:pPr>
              <a:defRPr sz="1575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0.082% relative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CBCE9-3E66-4ADE-AC06-4E0F9D7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RNG and realizable variants deviate by 3.14% and 6.04% in the present configuration.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8EB11-D692-471E-8E94-BEA4117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E5479-CD34-4DD4-B1B3-0BAA658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Verification and validation of canonical fluid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925E2-7BD5-491C-8DD9-6FC03B3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614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05ADB-58BD-4744-987D-BAB094FB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Force-transducer 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88328-8AB2-48BF-938F-159BC8A9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0988B-8B24-41BC-83A8-3FD82A1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The force measurement chain is established before interpreting cylinder coefficients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011f1fa4845fb"/>
          <a:stretch xmlns:a="http://schemas.openxmlformats.org/drawingml/2006/main"/>
        </p:blipFill>
        <p:spPr>
          <a:xfrm xmlns:a="http://schemas.openxmlformats.org/drawingml/2006/main">
            <a:off x="1425176" y="1809750"/>
            <a:ext cx="5474498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34931-AAE2-43E3-9E1B-A6FE852E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Identified sensitivity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7D03D-B045-4E61-9168-4794BC39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-4.07807 x 10^-4 V/N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2C937-D552-46BE-82C8-03CC4341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Fit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2688-1C6B-482A-9F71-BE942C0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R^2 = 0.999999</a:t>
            </a:r>
          </a:p>
          <a:p xmlns:a="http://schemas.openxmlformats.org/drawingml/2006/main">
            <a:pPr>
              <a:defRPr sz="1575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Force RMSE = 0.00572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89386-FAA1-4DD8-9B6E-35FC805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Steady voltage was evaluated over the final 30% of each acquisition.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946A0-52E0-49A8-AF9C-A00CD5AE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58D4E-31F8-4DD5-9565-F789E73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Verification and validation of canonical fluid 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BFDC7-BF70-48CF-AAD4-6BA6A93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7447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2D1F9-2485-4BB2-8AEC-37E15F79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Cylinder forces and unsteady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82597-CBB7-4EF1-B0F4-70E22790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A7C39-CE9C-4AD8-B8AB-9C5E06E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Buoyancy correction and spectral analysis identify the mean and periodic components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b61e4f6ee4daf"/>
          <a:stretch xmlns:a="http://schemas.openxmlformats.org/drawingml/2006/main"/>
        </p:blipFill>
        <p:spPr>
          <a:xfrm xmlns:a="http://schemas.openxmlformats.org/drawingml/2006/main">
            <a:off x="523875" y="1785921"/>
            <a:ext cx="5619750" cy="338140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0ea9f59214277"/>
          <a:stretch xmlns:a="http://schemas.openxmlformats.org/drawingml/2006/main"/>
        </p:blipFill>
        <p:spPr>
          <a:xfrm xmlns:a="http://schemas.openxmlformats.org/drawingml/2006/main">
            <a:off x="6346322" y="1762125"/>
            <a:ext cx="5261982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B1FA6-B3FF-43D8-B718-661D21C3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Mean coefficients: C_D = 1.4987, C_L = -0.0280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AF9FD-F0A8-4EED-B8D9-9A6B312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76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Dominant response: f_s = 1.0064 Hz, St = 0.1811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69CE2-4C71-4DC6-8505-5CDB016F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985A6-40E7-42C9-A9FD-2B4F9F9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Verification and validation of canonical fluid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DB6A1-5AAB-4992-9A1F-A9FB7FD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66319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8155D-2C16-443D-9ACB-A8E770C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Conclusions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4A812-436E-4D40-AE9A-30F99906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3D"/>
          </a:solidFill>
          <a:ln xmlns:a="http://schemas.openxmlformats.org/drawingml/2006/main" w="0">
            <a:solidFill>
              <a:srgbClr val="B84A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2CD29-1645-40CD-92B3-ACD2F0D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The repository turns a collection of laboratory analyses into a documented technical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56484-18BE-46A2-8EAA-F089AB6D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ACD1B-D509-4C00-9B3D-CB59346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00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Laminar CFD reproduces the fully developed Poiseuille profile.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6011-30F8-4D49-94C3-F22F71F0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4B86F-B526-4942-BB6F-910D1C0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52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The standard k-e setup gives the closest turbulent friction factor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939C1-A2BC-4B51-B6DD-AE4CC16F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4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10B99-0051-4246-839D-8EB484AC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733"/>
                </a:solidFill>
                <a:latin typeface="Arial"/>
                <a:ea typeface="Arial"/>
                <a:cs typeface="Arial"/>
              </a:rPr>
              <a:t>Calibrated force records yield a consistent drag coefficient and shedding frequency.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E1A85-73F4-47A7-86E6-605508AA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A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A46"/>
                </a:solidFill>
                <a:latin typeface="Arial"/>
                <a:ea typeface="Arial"/>
                <a:cs typeface="Arial"/>
              </a:rPr>
              <a:t>Reproduction: run('scripts/run_all.m')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BFAD3-124D-4BFE-AFBB-D67EC18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Before public release, confirm redistribution rights for the external turbulent-pipe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182A0-54D4-45BC-855D-87B0ABFF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solidFill>
              <a:srgbClr val="CBD5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0EBD6-3C38-4BF6-978C-1386033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Verification and validation of canonical fluid 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88308-7830-45C3-BC37-4BB3A42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C6A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A7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194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2026-09-22T10:02:48.1140000Z</dcterms:created>
  <dcterms:modified xsi:type="dcterms:W3CDTF">2026-09-22T10:02:48.1140000Z</dcterms:modified>
</coreProperties>
</file>