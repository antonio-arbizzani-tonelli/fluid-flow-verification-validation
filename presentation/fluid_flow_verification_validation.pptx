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dc7b8abeb9465a" /><Relationship Type="http://schemas.openxmlformats.org/officeDocument/2006/relationships/extended-properties" Target="/docProps/app.xml" Id="R9b01b3d4781d46f5" /><Relationship Type="http://schemas.openxmlformats.org/officeDocument/2006/relationships/officeDocument" Target="/ppt/presentation.xml" Id="Recfc3cba6a1841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229d9def4a4e3c"/>
  </p:sldMasterIdLst>
  <p:notesMasterIdLst>
    <p:notesMasterId xmlns:r="http://schemas.openxmlformats.org/officeDocument/2006/relationships" r:id="Rabdf99cf9c404df1"/>
  </p:notesMasterIdLst>
  <p:sldIdLst>
    <p:sldId xmlns:r="http://schemas.openxmlformats.org/officeDocument/2006/relationships" id="256" r:id="R0e151c19d6d54703"/>
    <p:sldId xmlns:r="http://schemas.openxmlformats.org/officeDocument/2006/relationships" id="257" r:id="R34739b642fd044d4"/>
    <p:sldId xmlns:r="http://schemas.openxmlformats.org/officeDocument/2006/relationships" id="258" r:id="R14d0dc02188942e8"/>
    <p:sldId xmlns:r="http://schemas.openxmlformats.org/officeDocument/2006/relationships" id="259" r:id="Rb582dc50701146e0"/>
    <p:sldId xmlns:r="http://schemas.openxmlformats.org/officeDocument/2006/relationships" id="260" r:id="R303aa7f2f2094b29"/>
    <p:sldId xmlns:r="http://schemas.openxmlformats.org/officeDocument/2006/relationships" id="261" r:id="Rcb9cf8c8cd754732"/>
    <p:sldId xmlns:r="http://schemas.openxmlformats.org/officeDocument/2006/relationships" id="262" r:id="R79d3e770b8944a82"/>
    <p:sldId xmlns:r="http://schemas.openxmlformats.org/officeDocument/2006/relationships" id="263" r:id="R7223494c5c864ae0"/>
    <p:sldId xmlns:r="http://schemas.openxmlformats.org/officeDocument/2006/relationships" id="264" r:id="R876737893f754fc7"/>
    <p:sldId xmlns:r="http://schemas.openxmlformats.org/officeDocument/2006/relationships" id="265" r:id="Rbbc877fccbfa49ff"/>
    <p:sldId xmlns:r="http://schemas.openxmlformats.org/officeDocument/2006/relationships" id="266" r:id="R416d0109553c4807"/>
    <p:sldId xmlns:r="http://schemas.openxmlformats.org/officeDocument/2006/relationships" id="267" r:id="R8c92de7afff44a6b"/>
    <p:sldId xmlns:r="http://schemas.openxmlformats.org/officeDocument/2006/relationships" id="268" r:id="R2010da094e2e4cf1"/>
    <p:sldId xmlns:r="http://schemas.openxmlformats.org/officeDocument/2006/relationships" id="269" r:id="Rb89ba0af35bc4b11"/>
    <p:sldId xmlns:r="http://schemas.openxmlformats.org/officeDocument/2006/relationships" id="270" r:id="R7c44a9ac50ca4a48"/>
    <p:sldId xmlns:r="http://schemas.openxmlformats.org/officeDocument/2006/relationships" id="271" r:id="Rceb1388dc1e6450d"/>
    <p:sldId xmlns:r="http://schemas.openxmlformats.org/officeDocument/2006/relationships" id="272" r:id="R3b4250085eb343ac"/>
    <p:sldId xmlns:r="http://schemas.openxmlformats.org/officeDocument/2006/relationships" id="273" r:id="R432b07cc2a0c460a"/>
    <p:sldId xmlns:r="http://schemas.openxmlformats.org/officeDocument/2006/relationships" id="274" r:id="Ree2265fd92cf4a1e"/>
    <p:sldId xmlns:r="http://schemas.openxmlformats.org/officeDocument/2006/relationships" id="275" r:id="Rcbb0850f472b4d79"/>
    <p:sldId xmlns:r="http://schemas.openxmlformats.org/officeDocument/2006/relationships" id="276" r:id="R01415513664d40ef"/>
    <p:sldId xmlns:r="http://schemas.openxmlformats.org/officeDocument/2006/relationships" id="277" r:id="Rf8901a4f682f4f2e"/>
    <p:sldId xmlns:r="http://schemas.openxmlformats.org/officeDocument/2006/relationships" id="278" r:id="R2f910957348a43b4"/>
    <p:sldId xmlns:r="http://schemas.openxmlformats.org/officeDocument/2006/relationships" id="279" r:id="R74b75c58585242fe"/>
    <p:sldId xmlns:r="http://schemas.openxmlformats.org/officeDocument/2006/relationships" id="280" r:id="R264d90b2b4b84436"/>
    <p:sldId xmlns:r="http://schemas.openxmlformats.org/officeDocument/2006/relationships" id="281" r:id="R9ea886e407594d1d"/>
    <p:sldId xmlns:r="http://schemas.openxmlformats.org/officeDocument/2006/relationships" id="282" r:id="Rbd0a3fb6e9734431"/>
    <p:sldId xmlns:r="http://schemas.openxmlformats.org/officeDocument/2006/relationships" id="283" r:id="R2d5827772bb74998"/>
    <p:sldId xmlns:r="http://schemas.openxmlformats.org/officeDocument/2006/relationships" id="284" r:id="Rf7001a6df3c044ab"/>
    <p:sldId xmlns:r="http://schemas.openxmlformats.org/officeDocument/2006/relationships" id="285" r:id="R6ecbee14672044ba"/>
    <p:sldId xmlns:r="http://schemas.openxmlformats.org/officeDocument/2006/relationships" id="286" r:id="R95bab899c6e049f3"/>
    <p:sldId xmlns:r="http://schemas.openxmlformats.org/officeDocument/2006/relationships" id="287" r:id="R87637bb5a4af471b"/>
    <p:sldId xmlns:r="http://schemas.openxmlformats.org/officeDocument/2006/relationships" id="288" r:id="R6a01ec801d934118"/>
    <p:sldId xmlns:r="http://schemas.openxmlformats.org/officeDocument/2006/relationships" id="289" r:id="R35e2d95a7e5c4ac0"/>
    <p:sldId xmlns:r="http://schemas.openxmlformats.org/officeDocument/2006/relationships" id="290" r:id="Rbaf1c3138d7e4720"/>
    <p:sldId xmlns:r="http://schemas.openxmlformats.org/officeDocument/2006/relationships" id="291" r:id="Rb917f0e7a5c54355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5791320ff240df" /><Relationship Type="http://schemas.openxmlformats.org/officeDocument/2006/relationships/slideMaster" Target="/ppt/slideMasters/slideMaster1.xml" Id="R3c229d9def4a4e3c" /><Relationship Type="http://schemas.openxmlformats.org/officeDocument/2006/relationships/notesMaster" Target="/ppt/notesMasters/notesMaster1.xml" Id="Rabdf99cf9c404df1" /><Relationship Type="http://schemas.openxmlformats.org/officeDocument/2006/relationships/presProps" Target="/ppt/presProps.xml" Id="R7b79257bf5c64be7" /><Relationship Type="http://schemas.openxmlformats.org/officeDocument/2006/relationships/viewProps" Target="/ppt/viewProps.xml" Id="Rf78fcda7a0a34d4c" /><Relationship Type="http://schemas.openxmlformats.org/officeDocument/2006/relationships/tableStyles" Target="/ppt/tableStyles.xml" Id="R9b2e8f39b10340d4" /><Relationship Type="http://schemas.openxmlformats.org/officeDocument/2006/relationships/slide" Target="/ppt/slides/slide1.xml" Id="R0e151c19d6d54703" /><Relationship Type="http://schemas.openxmlformats.org/officeDocument/2006/relationships/slide" Target="/ppt/slides/slide2.xml" Id="R34739b642fd044d4" /><Relationship Type="http://schemas.openxmlformats.org/officeDocument/2006/relationships/slide" Target="/ppt/slides/slide3.xml" Id="R14d0dc02188942e8" /><Relationship Type="http://schemas.openxmlformats.org/officeDocument/2006/relationships/slide" Target="/ppt/slides/slide4.xml" Id="Rb582dc50701146e0" /><Relationship Type="http://schemas.openxmlformats.org/officeDocument/2006/relationships/slide" Target="/ppt/slides/slide5.xml" Id="R303aa7f2f2094b29" /><Relationship Type="http://schemas.openxmlformats.org/officeDocument/2006/relationships/slide" Target="/ppt/slides/slide6.xml" Id="Rcb9cf8c8cd754732" /><Relationship Type="http://schemas.openxmlformats.org/officeDocument/2006/relationships/slide" Target="/ppt/slides/slide7.xml" Id="R79d3e770b8944a82" /><Relationship Type="http://schemas.openxmlformats.org/officeDocument/2006/relationships/slide" Target="/ppt/slides/slide8.xml" Id="R7223494c5c864ae0" /><Relationship Type="http://schemas.openxmlformats.org/officeDocument/2006/relationships/slide" Target="/ppt/slides/slide9.xml" Id="R876737893f754fc7" /><Relationship Type="http://schemas.openxmlformats.org/officeDocument/2006/relationships/slide" Target="/ppt/slides/slide10.xml" Id="Rbbc877fccbfa49ff" /><Relationship Type="http://schemas.openxmlformats.org/officeDocument/2006/relationships/slide" Target="/ppt/slides/slide11.xml" Id="R416d0109553c4807" /><Relationship Type="http://schemas.openxmlformats.org/officeDocument/2006/relationships/slide" Target="/ppt/slides/slide12.xml" Id="R8c92de7afff44a6b" /><Relationship Type="http://schemas.openxmlformats.org/officeDocument/2006/relationships/slide" Target="/ppt/slides/slide13.xml" Id="R2010da094e2e4cf1" /><Relationship Type="http://schemas.openxmlformats.org/officeDocument/2006/relationships/slide" Target="/ppt/slides/slide14.xml" Id="Rb89ba0af35bc4b11" /><Relationship Type="http://schemas.openxmlformats.org/officeDocument/2006/relationships/slide" Target="/ppt/slides/slide15.xml" Id="R7c44a9ac50ca4a48" /><Relationship Type="http://schemas.openxmlformats.org/officeDocument/2006/relationships/slide" Target="/ppt/slides/slide16.xml" Id="Rceb1388dc1e6450d" /><Relationship Type="http://schemas.openxmlformats.org/officeDocument/2006/relationships/slide" Target="/ppt/slides/slide17.xml" Id="R3b4250085eb343ac" /><Relationship Type="http://schemas.openxmlformats.org/officeDocument/2006/relationships/slide" Target="/ppt/slides/slide18.xml" Id="R432b07cc2a0c460a" /><Relationship Type="http://schemas.openxmlformats.org/officeDocument/2006/relationships/slide" Target="/ppt/slides/slide19.xml" Id="Ree2265fd92cf4a1e" /><Relationship Type="http://schemas.openxmlformats.org/officeDocument/2006/relationships/slide" Target="/ppt/slides/slide20.xml" Id="Rcbb0850f472b4d79" /><Relationship Type="http://schemas.openxmlformats.org/officeDocument/2006/relationships/slide" Target="/ppt/slides/slide21.xml" Id="R01415513664d40ef" /><Relationship Type="http://schemas.openxmlformats.org/officeDocument/2006/relationships/slide" Target="/ppt/slides/slide22.xml" Id="Rf8901a4f682f4f2e" /><Relationship Type="http://schemas.openxmlformats.org/officeDocument/2006/relationships/slide" Target="/ppt/slides/slide23.xml" Id="R2f910957348a43b4" /><Relationship Type="http://schemas.openxmlformats.org/officeDocument/2006/relationships/slide" Target="/ppt/slides/slide24.xml" Id="R74b75c58585242fe" /><Relationship Type="http://schemas.openxmlformats.org/officeDocument/2006/relationships/slide" Target="/ppt/slides/slide25.xml" Id="R264d90b2b4b84436" /><Relationship Type="http://schemas.openxmlformats.org/officeDocument/2006/relationships/slide" Target="/ppt/slides/slide26.xml" Id="R9ea886e407594d1d" /><Relationship Type="http://schemas.openxmlformats.org/officeDocument/2006/relationships/slide" Target="/ppt/slides/slide27.xml" Id="Rbd0a3fb6e9734431" /><Relationship Type="http://schemas.openxmlformats.org/officeDocument/2006/relationships/slide" Target="/ppt/slides/slide28.xml" Id="R2d5827772bb74998" /><Relationship Type="http://schemas.openxmlformats.org/officeDocument/2006/relationships/slide" Target="/ppt/slides/slide29.xml" Id="Rf7001a6df3c044ab" /><Relationship Type="http://schemas.openxmlformats.org/officeDocument/2006/relationships/slide" Target="/ppt/slides/slide30.xml" Id="R6ecbee14672044ba" /><Relationship Type="http://schemas.openxmlformats.org/officeDocument/2006/relationships/slide" Target="/ppt/slides/slide31.xml" Id="R95bab899c6e049f3" /><Relationship Type="http://schemas.openxmlformats.org/officeDocument/2006/relationships/slide" Target="/ppt/slides/slide32.xml" Id="R87637bb5a4af471b" /><Relationship Type="http://schemas.openxmlformats.org/officeDocument/2006/relationships/slide" Target="/ppt/slides/slide33.xml" Id="R6a01ec801d934118" /><Relationship Type="http://schemas.openxmlformats.org/officeDocument/2006/relationships/slide" Target="/ppt/slides/slide34.xml" Id="R35e2d95a7e5c4ac0" /><Relationship Type="http://schemas.openxmlformats.org/officeDocument/2006/relationships/slide" Target="/ppt/slides/slide35.xml" Id="Rbaf1c3138d7e4720" /><Relationship Type="http://schemas.openxmlformats.org/officeDocument/2006/relationships/slide" Target="/ppt/slides/slide36.xml" Id="Rb917f0e7a5c543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66a6f3b67f4b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76d0642042456c" /><Relationship Type="http://schemas.openxmlformats.org/officeDocument/2006/relationships/notesMaster" Target="/ppt/notesMasters/notesMaster1.xml" Id="R40c19e7fa50647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4308be563e466a" /><Relationship Type="http://schemas.openxmlformats.org/officeDocument/2006/relationships/notesMaster" Target="/ppt/notesMasters/notesMaster1.xml" Id="R51606f15412b44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fe07e516cd4a12" /><Relationship Type="http://schemas.openxmlformats.org/officeDocument/2006/relationships/notesMaster" Target="/ppt/notesMasters/notesMaster1.xml" Id="R835144fb3e134c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b74ea68596941bb" /><Relationship Type="http://schemas.openxmlformats.org/officeDocument/2006/relationships/notesMaster" Target="/ppt/notesMasters/notesMaster1.xml" Id="R0c4bdb70b81c46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84a8b772dc416a" /><Relationship Type="http://schemas.openxmlformats.org/officeDocument/2006/relationships/notesMaster" Target="/ppt/notesMasters/notesMaster1.xml" Id="Ra82334d25263495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a4b66f535774280" /><Relationship Type="http://schemas.openxmlformats.org/officeDocument/2006/relationships/notesMaster" Target="/ppt/notesMasters/notesMaster1.xml" Id="R2be78db4256c4a2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8e89a5dea14b8b" /><Relationship Type="http://schemas.openxmlformats.org/officeDocument/2006/relationships/notesMaster" Target="/ppt/notesMasters/notesMaster1.xml" Id="R61387a2067b843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bdccdc740f44a5" /><Relationship Type="http://schemas.openxmlformats.org/officeDocument/2006/relationships/notesMaster" Target="/ppt/notesMasters/notesMaster1.xml" Id="Rdec6476e288645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17ada142673485a" /><Relationship Type="http://schemas.openxmlformats.org/officeDocument/2006/relationships/notesMaster" Target="/ppt/notesMasters/notesMaster1.xml" Id="R7c05ab9916e34d2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90fd88b539040ad" /><Relationship Type="http://schemas.openxmlformats.org/officeDocument/2006/relationships/notesMaster" Target="/ppt/notesMasters/notesMaster1.xml" Id="R742585a49df744b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178964e61f44353" /><Relationship Type="http://schemas.openxmlformats.org/officeDocument/2006/relationships/notesMaster" Target="/ppt/notesMasters/notesMaster1.xml" Id="Ra09f7bf40695408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a79fa029c5340c0" /><Relationship Type="http://schemas.openxmlformats.org/officeDocument/2006/relationships/notesMaster" Target="/ppt/notesMasters/notesMaster1.xml" Id="Rfd8a83692fef492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eeb3daf40db41bb" /><Relationship Type="http://schemas.openxmlformats.org/officeDocument/2006/relationships/notesMaster" Target="/ppt/notesMasters/notesMaster1.xml" Id="R06bffaa5a1b843d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23d30417e7b44a3" /><Relationship Type="http://schemas.openxmlformats.org/officeDocument/2006/relationships/notesMaster" Target="/ppt/notesMasters/notesMaster1.xml" Id="R61f8e72aac934f1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cac1f335e874d8f" /><Relationship Type="http://schemas.openxmlformats.org/officeDocument/2006/relationships/notesMaster" Target="/ppt/notesMasters/notesMaster1.xml" Id="Re753cf7259234ec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60a67bef2764f43" /><Relationship Type="http://schemas.openxmlformats.org/officeDocument/2006/relationships/notesMaster" Target="/ppt/notesMasters/notesMaster1.xml" Id="Rfe03b473c4b94c0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27be598c68e468e" /><Relationship Type="http://schemas.openxmlformats.org/officeDocument/2006/relationships/notesMaster" Target="/ppt/notesMasters/notesMaster1.xml" Id="R8a096cfedc4a46a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c4af6951be04693" /><Relationship Type="http://schemas.openxmlformats.org/officeDocument/2006/relationships/notesMaster" Target="/ppt/notesMasters/notesMaster1.xml" Id="R0b5c4d0d24844b6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3a56a35fc4b4ea9" /><Relationship Type="http://schemas.openxmlformats.org/officeDocument/2006/relationships/notesMaster" Target="/ppt/notesMasters/notesMaster1.xml" Id="R294ae241ed964db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09aa1559bb14c12" /><Relationship Type="http://schemas.openxmlformats.org/officeDocument/2006/relationships/notesMaster" Target="/ppt/notesMasters/notesMaster1.xml" Id="Rf45fa49c76764a1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e5c12dc50a04e8c" /><Relationship Type="http://schemas.openxmlformats.org/officeDocument/2006/relationships/notesMaster" Target="/ppt/notesMasters/notesMaster1.xml" Id="R40a817893b3d461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6fa636402114086" /><Relationship Type="http://schemas.openxmlformats.org/officeDocument/2006/relationships/notesMaster" Target="/ppt/notesMasters/notesMaster1.xml" Id="Rc06bc15e9df141b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6d092fd3509451f" /><Relationship Type="http://schemas.openxmlformats.org/officeDocument/2006/relationships/notesMaster" Target="/ppt/notesMasters/notesMaster1.xml" Id="Rf406a5c4a405405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4b1919d61a4469a" /><Relationship Type="http://schemas.openxmlformats.org/officeDocument/2006/relationships/notesMaster" Target="/ppt/notesMasters/notesMaster1.xml" Id="R9f6917efc15c4a0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fce9952b12e4ac2" /><Relationship Type="http://schemas.openxmlformats.org/officeDocument/2006/relationships/notesMaster" Target="/ppt/notesMasters/notesMaster1.xml" Id="R9c1242bb99f949a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55fcbb57be64cb9" /><Relationship Type="http://schemas.openxmlformats.org/officeDocument/2006/relationships/notesMaster" Target="/ppt/notesMasters/notesMaster1.xml" Id="Rde65f11a22894f7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887af5a54144331" /><Relationship Type="http://schemas.openxmlformats.org/officeDocument/2006/relationships/notesMaster" Target="/ppt/notesMasters/notesMaster1.xml" Id="R79bc2c85b7a0433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7396dadc03e4d52" /><Relationship Type="http://schemas.openxmlformats.org/officeDocument/2006/relationships/notesMaster" Target="/ppt/notesMasters/notesMaster1.xml" Id="R95960c06e288433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814e46ede384187" /><Relationship Type="http://schemas.openxmlformats.org/officeDocument/2006/relationships/notesMaster" Target="/ppt/notesMasters/notesMaster1.xml" Id="R7410d189b1c94dc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28287e9fe1f4aed" /><Relationship Type="http://schemas.openxmlformats.org/officeDocument/2006/relationships/notesMaster" Target="/ppt/notesMasters/notesMaster1.xml" Id="R981c1ddd68bf418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b852b72381f4f1a" /><Relationship Type="http://schemas.openxmlformats.org/officeDocument/2006/relationships/notesMaster" Target="/ppt/notesMasters/notesMaster1.xml" Id="Re8cf091303b9465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aa348f8aba14984" /><Relationship Type="http://schemas.openxmlformats.org/officeDocument/2006/relationships/notesMaster" Target="/ppt/notesMasters/notesMaster1.xml" Id="R814cdadb37f9479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9c1d2466b47451f" /><Relationship Type="http://schemas.openxmlformats.org/officeDocument/2006/relationships/notesMaster" Target="/ppt/notesMasters/notesMaster1.xml" Id="R0aac4fa1e2e343b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e63ce5107244a6c" /><Relationship Type="http://schemas.openxmlformats.org/officeDocument/2006/relationships/notesMaster" Target="/ppt/notesMasters/notesMaster1.xml" Id="Rf15d700a05d84d7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50079e50e3e4ba4" /><Relationship Type="http://schemas.openxmlformats.org/officeDocument/2006/relationships/notesMaster" Target="/ppt/notesMasters/notesMaster1.xml" Id="R33e0fac10fd1409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86adedebad1141c6" /><Relationship Type="http://schemas.openxmlformats.org/officeDocument/2006/relationships/notesMaster" Target="/ppt/notesMasters/notesMaster1.xml" Id="R218f8b27dccf49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7ba973e7654b4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43577438b14c86" /><Relationship Type="http://schemas.openxmlformats.org/officeDocument/2006/relationships/slideLayout" Target="/ppt/slideLayouts/slideLayout1.xml" Id="R2bfcb0f364fb418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fcb0f364fb418c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8187ebeda4675" /><Relationship Type="http://schemas.openxmlformats.org/officeDocument/2006/relationships/notesSlide" Target="/ppt/notesSlides/notesSlide1.xml" Id="R44e17d8123dc43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ad81867854afc" /><Relationship Type="http://schemas.openxmlformats.org/officeDocument/2006/relationships/notesSlide" Target="/ppt/notesSlides/notesSlide2.xml" Id="R8874376a20f24a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e257d1b4d7469e" /><Relationship Type="http://schemas.openxmlformats.org/officeDocument/2006/relationships/notesSlide" Target="/ppt/notesSlides/notesSlide3.xml" Id="R719dfbcf171e41a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0c5ba30a9b4c20" /><Relationship Type="http://schemas.openxmlformats.org/officeDocument/2006/relationships/notesSlide" Target="/ppt/notesSlides/notesSlide4.xml" Id="Rfe4635887e8a48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2869f222d84881" /><Relationship Type="http://schemas.openxmlformats.org/officeDocument/2006/relationships/notesSlide" Target="/ppt/notesSlides/notesSlide5.xml" Id="R787bf5b5ef2c4c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28280c126940a6" /><Relationship Type="http://schemas.openxmlformats.org/officeDocument/2006/relationships/notesSlide" Target="/ppt/notesSlides/notesSlide6.xml" Id="R4ebca21fc71947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59187c3238483b" /><Relationship Type="http://schemas.openxmlformats.org/officeDocument/2006/relationships/image" Target="/ppt/media/image.png" Id="R4689a1a5fdd949b1" /><Relationship Type="http://schemas.openxmlformats.org/officeDocument/2006/relationships/notesSlide" Target="/ppt/notesSlides/notesSlide7.xml" Id="Rffc3fc7b59a34e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13092ce4d4092" /><Relationship Type="http://schemas.openxmlformats.org/officeDocument/2006/relationships/image" Target="/ppt/media/image2.png" Id="R7558cc71b26f45bc" /><Relationship Type="http://schemas.openxmlformats.org/officeDocument/2006/relationships/notesSlide" Target="/ppt/notesSlides/notesSlide8.xml" Id="R388be3f5340f4ad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4900bcbdf4513" /><Relationship Type="http://schemas.openxmlformats.org/officeDocument/2006/relationships/image" Target="/ppt/media/image3.png" Id="R316f40fc67f74ba0" /><Relationship Type="http://schemas.openxmlformats.org/officeDocument/2006/relationships/notesSlide" Target="/ppt/notesSlides/notesSlide9.xml" Id="R04b7ebe9a86447f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b6d751026c4c3c" /><Relationship Type="http://schemas.openxmlformats.org/officeDocument/2006/relationships/image" Target="/ppt/media/image4.png" Id="Rda558667c7124603" /><Relationship Type="http://schemas.openxmlformats.org/officeDocument/2006/relationships/notesSlide" Target="/ppt/notesSlides/notesSlide10.xml" Id="R9aa3b0995ed6477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137fe55d147a9" /><Relationship Type="http://schemas.openxmlformats.org/officeDocument/2006/relationships/image" Target="/ppt/media/image5.png" Id="R43a43b4a0feb4f9b" /><Relationship Type="http://schemas.openxmlformats.org/officeDocument/2006/relationships/notesSlide" Target="/ppt/notesSlides/notesSlide11.xml" Id="Ref4f419aa4274ce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1d764fe0fd4ed9" /><Relationship Type="http://schemas.openxmlformats.org/officeDocument/2006/relationships/image" Target="/ppt/media/image6.png" Id="Rdae76bbef5134b0e" /><Relationship Type="http://schemas.openxmlformats.org/officeDocument/2006/relationships/notesSlide" Target="/ppt/notesSlides/notesSlide12.xml" Id="Rec777a0d7d0e44d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1bfdf0686c4e73" /><Relationship Type="http://schemas.openxmlformats.org/officeDocument/2006/relationships/image" Target="/ppt/media/image7.png" Id="R596a0cd804324e6c" /><Relationship Type="http://schemas.openxmlformats.org/officeDocument/2006/relationships/notesSlide" Target="/ppt/notesSlides/notesSlide13.xml" Id="R4e45c374f8bd4c3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2afd067e0b49d1" /><Relationship Type="http://schemas.openxmlformats.org/officeDocument/2006/relationships/image" Target="/ppt/media/image8.png" Id="R835063dc9c734a5e" /><Relationship Type="http://schemas.openxmlformats.org/officeDocument/2006/relationships/notesSlide" Target="/ppt/notesSlides/notesSlide14.xml" Id="Ra7f29100a09042c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3938a1b2984a9f" /><Relationship Type="http://schemas.openxmlformats.org/officeDocument/2006/relationships/image" Target="/ppt/media/image9.png" Id="R39e1b8d31a1843c2" /><Relationship Type="http://schemas.openxmlformats.org/officeDocument/2006/relationships/notesSlide" Target="/ppt/notesSlides/notesSlide15.xml" Id="R613a48d8980f442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7969322db54510" /><Relationship Type="http://schemas.openxmlformats.org/officeDocument/2006/relationships/image" Target="/ppt/media/image10.png" Id="R5c66017be650405c" /><Relationship Type="http://schemas.openxmlformats.org/officeDocument/2006/relationships/notesSlide" Target="/ppt/notesSlides/notesSlide16.xml" Id="Rc307a20afa1c45b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fd8ee84f974c1d" /><Relationship Type="http://schemas.openxmlformats.org/officeDocument/2006/relationships/notesSlide" Target="/ppt/notesSlides/notesSlide17.xml" Id="R159f87be028c4d6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fc226b628f41fc" /><Relationship Type="http://schemas.openxmlformats.org/officeDocument/2006/relationships/image" Target="/ppt/media/image11.png" Id="R0ea1b9504cc44b1e" /><Relationship Type="http://schemas.openxmlformats.org/officeDocument/2006/relationships/notesSlide" Target="/ppt/notesSlides/notesSlide18.xml" Id="R9301831878254d1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8c19bed2b94727" /><Relationship Type="http://schemas.openxmlformats.org/officeDocument/2006/relationships/image" Target="/ppt/media/image12.png" Id="R8bcc579680d6461a" /><Relationship Type="http://schemas.openxmlformats.org/officeDocument/2006/relationships/image" Target="/ppt/media/image13.png" Id="R1bb0a51e8bd442b7" /><Relationship Type="http://schemas.openxmlformats.org/officeDocument/2006/relationships/notesSlide" Target="/ppt/notesSlides/notesSlide19.xml" Id="Rd17fdeaf5ba1418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797128814e4962" /><Relationship Type="http://schemas.openxmlformats.org/officeDocument/2006/relationships/image" Target="/ppt/media/image14.png" Id="R5c17cf9277d74b2d" /><Relationship Type="http://schemas.openxmlformats.org/officeDocument/2006/relationships/notesSlide" Target="/ppt/notesSlides/notesSlide20.xml" Id="R4214de5a8e394c8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13a85ce23d4a9d" /><Relationship Type="http://schemas.openxmlformats.org/officeDocument/2006/relationships/image" Target="/ppt/media/image15.png" Id="R310d5af173ff4b89" /><Relationship Type="http://schemas.openxmlformats.org/officeDocument/2006/relationships/notesSlide" Target="/ppt/notesSlides/notesSlide21.xml" Id="R2326fbbaa1b2461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666c48db76410b" /><Relationship Type="http://schemas.openxmlformats.org/officeDocument/2006/relationships/image" Target="/ppt/media/image16.png" Id="R2fcbfe939445445e" /><Relationship Type="http://schemas.openxmlformats.org/officeDocument/2006/relationships/notesSlide" Target="/ppt/notesSlides/notesSlide22.xml" Id="R7770dcc1a4a7455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4b481c4a464e6b" /><Relationship Type="http://schemas.openxmlformats.org/officeDocument/2006/relationships/image" Target="/ppt/media/image17.png" Id="R5d1d7233408f4166" /><Relationship Type="http://schemas.openxmlformats.org/officeDocument/2006/relationships/notesSlide" Target="/ppt/notesSlides/notesSlide23.xml" Id="R1eb6aaac848c4ec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f18ef73f124516" /><Relationship Type="http://schemas.openxmlformats.org/officeDocument/2006/relationships/image" Target="/ppt/media/image18.png" Id="Re828f34c0c1f4389" /><Relationship Type="http://schemas.openxmlformats.org/officeDocument/2006/relationships/notesSlide" Target="/ppt/notesSlides/notesSlide24.xml" Id="Ra3a0eff4fe194ea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5496ecab24632" /><Relationship Type="http://schemas.openxmlformats.org/officeDocument/2006/relationships/image" Target="/ppt/media/image19.png" Id="R9159aba9b12f4a61" /><Relationship Type="http://schemas.openxmlformats.org/officeDocument/2006/relationships/notesSlide" Target="/ppt/notesSlides/notesSlide25.xml" Id="R87c15d3f47da48c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d828f5eb9149ff" /><Relationship Type="http://schemas.openxmlformats.org/officeDocument/2006/relationships/image" Target="/ppt/media/image20.png" Id="Re0d6bcbc034a45c7" /><Relationship Type="http://schemas.openxmlformats.org/officeDocument/2006/relationships/notesSlide" Target="/ppt/notesSlides/notesSlide26.xml" Id="R807ba71d05f24f2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dd9af3ac604d2b" /><Relationship Type="http://schemas.openxmlformats.org/officeDocument/2006/relationships/image" Target="/ppt/media/image21.png" Id="R1aa74f427ea74310" /><Relationship Type="http://schemas.openxmlformats.org/officeDocument/2006/relationships/notesSlide" Target="/ppt/notesSlides/notesSlide27.xml" Id="R0b9eb9b7abdb481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5870e7173a445d" /><Relationship Type="http://schemas.openxmlformats.org/officeDocument/2006/relationships/notesSlide" Target="/ppt/notesSlides/notesSlide28.xml" Id="R4b98135c695d442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07350acad40be" /><Relationship Type="http://schemas.openxmlformats.org/officeDocument/2006/relationships/notesSlide" Target="/ppt/notesSlides/notesSlide29.xml" Id="Rf38e5305145a454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48057c57474298" /><Relationship Type="http://schemas.openxmlformats.org/officeDocument/2006/relationships/notesSlide" Target="/ppt/notesSlides/notesSlide30.xml" Id="R27c3c3f907bf45e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fb2ed6cca340ea" /><Relationship Type="http://schemas.openxmlformats.org/officeDocument/2006/relationships/notesSlide" Target="/ppt/notesSlides/notesSlide31.xml" Id="Rade8ac6b4e9f41b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a375c9e5f94004" /><Relationship Type="http://schemas.openxmlformats.org/officeDocument/2006/relationships/notesSlide" Target="/ppt/notesSlides/notesSlide32.xml" Id="R15b3322875254d7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1f3d3f90784841" /><Relationship Type="http://schemas.openxmlformats.org/officeDocument/2006/relationships/notesSlide" Target="/ppt/notesSlides/notesSlide33.xml" Id="R5756a5afd75b42b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7f85cb04d5450b" /><Relationship Type="http://schemas.openxmlformats.org/officeDocument/2006/relationships/notesSlide" Target="/ppt/notesSlides/notesSlide34.xml" Id="R0f9efd98f0ae4df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f0419c64b40d0" /><Relationship Type="http://schemas.openxmlformats.org/officeDocument/2006/relationships/image" Target="/ppt/media/image22.png" Id="Rde049ee19e764e2f" /><Relationship Type="http://schemas.openxmlformats.org/officeDocument/2006/relationships/image" Target="/ppt/media/image23.png" Id="R028f4fab300445af" /><Relationship Type="http://schemas.openxmlformats.org/officeDocument/2006/relationships/notesSlide" Target="/ppt/notesSlides/notesSlide35.xml" Id="R7447861e9ae0496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c828afdfc4bc0" /><Relationship Type="http://schemas.openxmlformats.org/officeDocument/2006/relationships/image" Target="/ppt/media/image24.png" Id="R4a84d9b805a0494f" /><Relationship Type="http://schemas.openxmlformats.org/officeDocument/2006/relationships/notesSlide" Target="/ppt/notesSlides/notesSlide36.xml" Id="Rfc9eca0faf6240d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3A5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31A7CE2-FFB5-4B32-A643-BD2E836B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62075"/>
            <a:ext cx="1571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 spc="156">
                <a:solidFill>
                  <a:srgbClr val="9CDAD4"/>
                </a:solidFill>
                <a:latin typeface="Courier New"/>
                <a:ea typeface="Courier New"/>
                <a:cs typeface="Courier New"/>
              </a:rPr>
              <a:t>MSC MATHEMATICAL ENGINEERING · A.Y. 2025/26</a:t>
            </a:r>
            <a:endParaRPr sz="19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453AC81-9E84-44FE-9C16-65DFB4D1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14650"/>
            <a:ext cx="15811500" cy="2647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528"/>
              </a:lnSpc>
              <a:buNone/>
            </a:pPr>
            <a:r>
              <a:rPr sz="7600" b="1" spc="-126">
                <a:solidFill>
                  <a:srgbClr val="FFFFFF"/>
                </a:solidFill>
                <a:latin typeface="Arial"/>
                <a:ea typeface="Arial"/>
                <a:cs typeface="Arial"/>
              </a:rPr>
              <a:t>Verification and validation</a:t>
            </a:r>
          </a:p>
          <a:p xmlns:a="http://schemas.openxmlformats.org/drawingml/2006/main">
            <a:pPr marL="0" indent="0" algn="l">
              <a:lnSpc>
                <a:spcPct val="90528"/>
              </a:lnSpc>
              <a:buNone/>
            </a:pPr>
            <a:r>
              <a:rPr sz="7600" b="1" spc="-126">
                <a:solidFill>
                  <a:srgbClr val="FFFFFF"/>
                </a:solidFill>
                <a:latin typeface="Arial"/>
                <a:ea typeface="Arial"/>
                <a:cs typeface="Arial"/>
              </a:rPr>
              <a:t>of fluid flows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F285418-6D0B-407A-BB7D-E3FC579E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57950"/>
            <a:ext cx="1409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3333"/>
              </a:lnSpc>
              <a:buNone/>
            </a:pPr>
            <a:r>
              <a:rPr sz="2800">
                <a:solidFill>
                  <a:srgbClr val="DDE7EE"/>
                </a:solidFill>
                <a:latin typeface="Arial"/>
                <a:ea typeface="Arial"/>
                <a:cs typeface="Arial"/>
              </a:rPr>
              <a:t>Numerical analysis of internal flows</a:t>
            </a:r>
            <a:endParaRPr sz="2550"/>
          </a:p>
          <a:p xmlns:a="http://schemas.openxmlformats.org/drawingml/2006/main">
            <a:pPr marL="0" indent="0" algn="l">
              <a:lnSpc>
                <a:spcPct val="113333"/>
              </a:lnSpc>
              <a:buNone/>
            </a:pPr>
            <a:r>
              <a:rPr sz="2800">
                <a:solidFill>
                  <a:srgbClr val="DDE7EE"/>
                </a:solidFill>
                <a:latin typeface="Arial"/>
                <a:ea typeface="Arial"/>
                <a:cs typeface="Arial"/>
              </a:rPr>
              <a:t>and experimental characterisation of a circular-cylinder wake</a:t>
            </a:r>
            <a:endParaRPr sz="25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1ECFC56-9348-4011-8331-E9CC95649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87739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8B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6237CEC-358E-4CDE-A1FB-2E6889B0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8458200"/>
            <a:ext cx="7620000" cy="723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Antonio Arbizzani Tonelli</a:t>
            </a: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0483421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6D5CB32-20E5-4161-9E6C-56A4FD89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47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E659852-E95D-4778-A910-5885C6E3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132777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OVERVIEW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530FC8E-E18D-4E8F-9654-EA41F5B9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02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79AAAD5-F781-42C1-8653-0DA771EF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Project at a glance</a:t>
            </a:r>
            <a:endParaRPr sz="42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BDCF354-A28E-4986-97A0-A5B961FE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91605"/>
            <a:ext cx="15304770" cy="89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1081"/>
              </a:lnSpc>
              <a:buNone/>
            </a:pP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Numerical and experimental study of two canonical flows, organised as a verification and validation chain. Every reported quantity is tied to a reference solution or measurement, and an explicit error metric.</a:t>
            </a:r>
            <a:endParaRPr sz="24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2160A7E-E5F7-445D-902B-9EFED60A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31258"/>
            <a:ext cx="3771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ACAA556-465F-46FE-AD26-609F1332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78908"/>
            <a:ext cx="3885057" cy="628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LAMINAR PIPE · VERIFICATION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82D9DAB-79E2-4E1B-9603-521654BC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02808"/>
            <a:ext cx="414909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7179"/>
              </a:lnSpc>
              <a:buNone/>
            </a:pPr>
            <a:r>
              <a:rPr sz="51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1.24%</a:t>
            </a:r>
            <a:endParaRPr sz="51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EFE8849-A2FB-45AE-8428-A19F3A25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83858"/>
            <a:ext cx="3885057" cy="10795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Pressure-gradient error against Hagen–Poiseuille; profile error 3.18%</a:t>
            </a:r>
            <a:endParaRPr sz="2025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E0C5C58-4717-4928-AD20-EE9B4FF2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31258"/>
            <a:ext cx="3771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14A2F6A-2F4A-4357-8617-41C6E201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478908"/>
            <a:ext cx="3885057" cy="628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TURBULENT PIPE · VALIDATION</a:t>
            </a:r>
            <a:endParaRPr sz="1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262557B-92E5-4F58-935A-F51C1409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202808"/>
            <a:ext cx="414909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7179"/>
              </a:lnSpc>
              <a:buNone/>
            </a:pPr>
            <a:r>
              <a:rPr sz="51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0.082%</a:t>
            </a:r>
            <a:endParaRPr sz="51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7F7C130-E151-4793-BD5B-1082D651F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983858"/>
            <a:ext cx="3885057" cy="79742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Friction-factor error of standard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k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–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ε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at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Re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b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= 75,000</a:t>
            </a:r>
            <a:endParaRPr sz="2025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068C5BF-CF2B-4FAE-A43B-43BF4D6D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231258"/>
            <a:ext cx="3771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07E0148-9936-494A-AC3D-E126C22C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78908"/>
            <a:ext cx="414909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CYLINDER WAKE · SHEDDING</a:t>
            </a:r>
            <a:endParaRPr sz="1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6B9DFB0-EEA7-4174-AF5E-E9B2E97C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907533"/>
            <a:ext cx="4149090" cy="70961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7179"/>
              </a:lnSpc>
              <a:buNone/>
            </a:pPr>
            <a:r>
              <a:rPr sz="5100" b="1" i="1">
                <a:solidFill>
                  <a:srgbClr val="0B7A75"/>
                </a:solidFill>
                <a:latin typeface="Arial"/>
                <a:ea typeface="Arial"/>
                <a:cs typeface="Arial"/>
              </a:rPr>
              <a:t>St </a:t>
            </a:r>
            <a:r>
              <a:rPr sz="51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0.18–0.20</a:t>
            </a:r>
            <a:endParaRPr sz="51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D553595-8E19-4B18-9DC4-5A58F26D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712396"/>
            <a:ext cx="3885057" cy="7323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Identified independently from PSV velocity and lift force</a:t>
            </a:r>
            <a:endParaRPr sz="2025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581B7AB-DC60-4087-A9AB-9BA5597B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231258"/>
            <a:ext cx="3771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9F86CF9-07D8-41F9-80D5-44B702BF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478908"/>
            <a:ext cx="3885057" cy="628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CYLINDER FORCES · UNCERTAINTY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139CBEA-BB6D-4789-8AD4-743EEEC4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5202808"/>
            <a:ext cx="414909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7179"/>
              </a:lnSpc>
              <a:buNone/>
            </a:pPr>
            <a:r>
              <a:rPr sz="51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1.50 ± 0.08</a:t>
            </a:r>
            <a:endParaRPr sz="51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D65B0006-32A0-4C09-9503-F203EC3A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5983858"/>
            <a:ext cx="3885057" cy="7323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Mean drag coefficient with first-order standard uncertainty</a:t>
            </a:r>
            <a:endParaRPr sz="2025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4BB9EFA-864A-4DE6-9063-25951390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511629"/>
            <a:ext cx="1645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6A5552F-30EC-460A-ACD5-3F9331F4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711654"/>
            <a:ext cx="1810512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METHODS</a:t>
            </a:r>
            <a:endParaRPr sz="18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B68379A-054B-4BCC-B071-50DAFD9B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21229"/>
            <a:ext cx="16952976" cy="7847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20615"/>
              </a:lnSpc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RANS CFD (PHOENICS) · grid-sensitivity analysis · particle-shadow velocimetry · spectral analysis · load-cell calibration · uncertainty propagation · MATLAB data processing</a:t>
            </a:r>
            <a:endParaRPr sz="2100"/>
          </a:p>
        </p:txBody>
      </p:sp>
    </p:spTree>
    <p:extLst>
      <p:ext uri="{BB962C8B-B14F-4D97-AF65-F5344CB8AC3E}">
        <p14:creationId xmlns:p14="http://schemas.microsoft.com/office/powerpoint/2010/main" val="15204522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332DEF5-1E19-46FF-863E-186A9399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47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FDC8CCE-21D8-49EE-8076-6A8B5606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49" y="571500"/>
            <a:ext cx="228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OBJECTIVE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47529F1-E365-4918-8116-88AA59CD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03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BBAB857-E896-4AED-9A29-6672BA83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Research objective</a:t>
            </a:r>
            <a:endParaRPr sz="42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22ACDCC-9B1A-4D43-93F2-FB51D63E2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35860"/>
            <a:ext cx="15697200" cy="1346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4874"/>
              </a:lnSpc>
              <a:buNone/>
            </a:pPr>
            <a:r>
              <a:rPr sz="3750">
                <a:solidFill>
                  <a:srgbClr val="1A1D21"/>
                </a:solidFill>
                <a:latin typeface="Arial"/>
                <a:ea typeface="Arial"/>
                <a:cs typeface="Arial"/>
              </a:rPr>
              <a:t>Establish a traceable verification and validation chain for numerical pipe flow and experimental cylinder-wake measurements.</a:t>
            </a:r>
            <a:endParaRPr sz="37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891FD09-520E-49CA-B815-F4D7BE79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34383"/>
            <a:ext cx="777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26F6A13-1F06-466A-9DA2-D1CA712C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62983"/>
            <a:ext cx="854964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CASE 1 · INTERNAL FLOW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469BFE0-B7FA-49E2-AFBA-E0CBF596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34458"/>
            <a:ext cx="8549640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Pipe flow, CFD</a:t>
            </a:r>
            <a:endParaRPr sz="33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4507E70-6A4C-4F67-BBF0-EA738696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47854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6FF111B-F431-47F8-83A0-E69BF87A1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19304"/>
            <a:ext cx="2171700" cy="4199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818"/>
              </a:lnSpc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Regimes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F5D09C3-AB85-439B-8DD7-538CCB61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590729"/>
            <a:ext cx="5993130" cy="4485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6308"/>
              </a:lnSpc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Laminar, 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Re</a:t>
            </a:r>
            <a:r>
              <a:rPr sz="1750">
                <a:solidFill>
                  <a:srgbClr val="1A1D21"/>
                </a:solidFill>
                <a:latin typeface="Arial"/>
                <a:ea typeface="Arial"/>
                <a:cs typeface="Arial"/>
              </a:rPr>
              <a:t>b 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= 193 · turbulent, 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Re</a:t>
            </a:r>
            <a:r>
              <a:rPr sz="1750">
                <a:solidFill>
                  <a:srgbClr val="1A1D21"/>
                </a:solidFill>
                <a:latin typeface="Arial"/>
                <a:ea typeface="Arial"/>
                <a:cs typeface="Arial"/>
              </a:rPr>
              <a:t>b 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= 75,000</a:t>
            </a:r>
            <a:endParaRPr sz="21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95AD8C50-4320-4AED-99B5-AAEF145F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53596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BAD16EF-DB55-46C9-A7FF-21F7DDBD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25046"/>
            <a:ext cx="2171700" cy="7295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818"/>
              </a:lnSpc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Reference</a:t>
            </a:r>
            <a:endParaRPr sz="1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158CCAA-DA7B-4D0A-96B8-1B04F50C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6296471"/>
            <a:ext cx="5611749" cy="7581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6308"/>
              </a:lnSpc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Hagen–Poiseuille solution; measured profiles and friction factor</a:t>
            </a:r>
            <a:endParaRPr sz="21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C8BD1B26-9D60-4DB1-9928-48BB7E2F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168902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D9F9098-95C9-4092-A865-EE68E88C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340352"/>
            <a:ext cx="2171700" cy="739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818"/>
              </a:lnSpc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Test</a:t>
            </a:r>
            <a:endParaRPr sz="18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E612C57-3957-4F73-8860-E61DA775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311777"/>
            <a:ext cx="5611749" cy="7676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6308"/>
              </a:lnSpc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Verification of the solver, validation of four 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k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–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ε 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closures</a:t>
            </a:r>
            <a:endParaRPr sz="21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793C6DE-1607-4B56-86B7-667A77517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93732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61687D3-2608-4B44-9953-DBD95CA5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365182"/>
            <a:ext cx="2171700" cy="7295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818"/>
              </a:lnSpc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Compared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00D8C6D-CBA7-4CB0-8C01-6256E8F5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8336607"/>
            <a:ext cx="5611749" cy="7581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6308"/>
              </a:lnSpc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Velocity profile, pressure gradient, Darcy friction factor</a:t>
            </a:r>
            <a:endParaRPr sz="21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B69A6F59-8EA1-4F52-A9DD-BC21D630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34383"/>
            <a:ext cx="777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28AE36B-6B94-4416-AC0C-88E9FF41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462983"/>
            <a:ext cx="854964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CASE 2 · SEPARATED FLOW</a:t>
            </a:r>
            <a:endParaRPr sz="18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F643193E-4728-4B02-A6ED-6B64C917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834458"/>
            <a:ext cx="8549640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Cylinder wake, experiment</a:t>
            </a:r>
            <a:endParaRPr sz="33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FB8B925-E51D-4355-BD86-0FB92202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447854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F47FC01-210A-4E8B-A5B6-7915D6EBE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619304"/>
            <a:ext cx="2171700" cy="46121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818"/>
              </a:lnSpc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Regime</a:t>
            </a:r>
            <a:endParaRPr sz="18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388BB4F-B527-4075-90B7-D3D79011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5300" y="5590729"/>
            <a:ext cx="5611749" cy="4897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6308"/>
              </a:lnSpc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Unsteady wake, 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Re</a:t>
            </a:r>
            <a:r>
              <a:rPr sz="1750">
                <a:solidFill>
                  <a:srgbClr val="1A1D21"/>
                </a:solidFill>
                <a:latin typeface="Arial"/>
                <a:ea typeface="Arial"/>
                <a:cs typeface="Arial"/>
              </a:rPr>
              <a:t>D 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≈ 10</a:t>
            </a:r>
            <a:r>
              <a:rPr sz="1750">
                <a:solidFill>
                  <a:srgbClr val="1A1D21"/>
                </a:solidFill>
                <a:latin typeface="Arial"/>
                <a:ea typeface="Arial"/>
                <a:cs typeface="Arial"/>
              </a:rPr>
              <a:t>4</a:t>
            </a:r>
            <a:endParaRPr sz="2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D9BCDE41-7F45-4D0A-9017-53FDCFD9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194822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15B316D-8352-4E15-9979-56F9B10BF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6272"/>
            <a:ext cx="2171700" cy="7295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818"/>
              </a:lnSpc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Reference</a:t>
            </a:r>
            <a:endParaRPr sz="18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3D5D542-8EBE-4FA5-B2D6-270901917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5300" y="6337697"/>
            <a:ext cx="5611749" cy="7581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6308"/>
              </a:lnSpc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No closed-form solution: calibrated measurement chain</a:t>
            </a:r>
            <a:endParaRPr sz="21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CB8954AE-940A-43DC-AB0C-04508CB1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7210127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E7A3D76F-487A-4E4C-9343-5866D71F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7381577"/>
            <a:ext cx="2171700" cy="7295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818"/>
              </a:lnSpc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Test</a:t>
            </a:r>
            <a:endParaRPr sz="18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BA0F7689-9052-4C1C-8312-12C6D725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5300" y="7353002"/>
            <a:ext cx="5611749" cy="7581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6308"/>
              </a:lnSpc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Characterisation of the wake with quantified uncertainty</a:t>
            </a:r>
            <a:endParaRPr sz="21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C7D119D6-5029-4F3C-A5F7-9C5B7008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8225433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A15A28A2-CA2D-4611-B446-D12E3E99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8396883"/>
            <a:ext cx="2305050" cy="3695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818"/>
              </a:lnSpc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Compared</a:t>
            </a:r>
            <a:endParaRPr sz="18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EC4E8B8E-BA2E-4ECC-BEA2-15940C779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5300" y="8368308"/>
            <a:ext cx="5993130" cy="3981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6308"/>
              </a:lnSpc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Mean field, Strouhal number, force coefficients</a:t>
            </a:r>
            <a:endParaRPr sz="2100"/>
          </a:p>
        </p:txBody>
      </p:sp>
    </p:spTree>
    <p:extLst>
      <p:ext uri="{BB962C8B-B14F-4D97-AF65-F5344CB8AC3E}">
        <p14:creationId xmlns:p14="http://schemas.microsoft.com/office/powerpoint/2010/main" val="8420630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41A6621-1868-44E9-929B-478A91C2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47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5C23BC3-E259-4AFF-9D6A-141A39D8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1132359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PROBLEM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175CDCC-9ED7-4926-8084-62C29C27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04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9C64E42-C369-4000-AE9F-C5C56576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57275"/>
            <a:ext cx="1810512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652"/>
              </a:lnSpc>
              <a:buNone/>
            </a:pPr>
            <a:r>
              <a:rPr sz="45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Verification and validation framework</a:t>
            </a:r>
            <a:endParaRPr sz="45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152C4BB-6F28-4932-B403-042DBE85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6672"/>
            <a:ext cx="964689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96E116C-1564-4B9A-93AC-05E381C0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7097"/>
            <a:ext cx="9936297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NUMERICAL · PHOENICS PIPE FLOW</a:t>
            </a:r>
            <a:endParaRPr sz="18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31EA5B4-DB6C-44B2-86D1-1729E5D7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2290" y="3616672"/>
            <a:ext cx="643131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DA52F36-4CF1-4987-B94B-ED6D428E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2290" y="3207097"/>
            <a:ext cx="6624249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EXPERIMENTAL · FLUME, CIRCULAR CYLINDER</a:t>
            </a:r>
            <a:endParaRPr sz="18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C59034E-5C55-4528-82E0-8B1F0D68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9622"/>
            <a:ext cx="1645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C9FE1504-DCEA-4677-ADC2-92402AF0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8647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A703539-5BF9-43F5-B9A8-38183316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8647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  <a:endParaRPr sz="1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4801F60-53F2-4495-828B-2076CDA0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0147"/>
            <a:ext cx="3285679" cy="4324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976"/>
              </a:lnSpc>
              <a:buNone/>
            </a:pPr>
            <a:r>
              <a:rPr sz="27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Grid sensitivity</a:t>
            </a:r>
            <a:endParaRPr sz="27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C096C44-9772-4B2A-A76A-B7B5CFB4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967"/>
            <a:ext cx="3285679" cy="3847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buNone/>
            </a:pPr>
            <a:r>
              <a:rPr sz="2100">
                <a:solidFill>
                  <a:srgbClr val="3A4048"/>
                </a:solidFill>
                <a:latin typeface="Arial"/>
                <a:ea typeface="Arial"/>
                <a:cs typeface="Arial"/>
              </a:rPr>
              <a:t>Relative profile difference</a:t>
            </a:r>
            <a:endParaRPr sz="21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A2BCA5A8-1598-4BA3-8C88-23DAF5E18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2380" y="4178647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C98F4BD-AF41-4A93-B623-F0AEE3D7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280" y="4178647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  <a:endParaRPr sz="1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A1208DB-AE6D-49A3-A7AE-2F578331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2380" y="4750147"/>
            <a:ext cx="3076667" cy="8267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976"/>
              </a:lnSpc>
              <a:buNone/>
            </a:pPr>
            <a:r>
              <a:rPr sz="27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Analytical verification</a:t>
            </a:r>
            <a:endParaRPr sz="27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A73DA27-8B53-4A69-806D-EFBCD44C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2380" y="5729288"/>
            <a:ext cx="3076667" cy="7314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buNone/>
            </a:pPr>
            <a:r>
              <a:rPr sz="2100">
                <a:solidFill>
                  <a:srgbClr val="3A4048"/>
                </a:solidFill>
                <a:latin typeface="Arial"/>
                <a:ea typeface="Arial"/>
                <a:cs typeface="Arial"/>
              </a:rPr>
              <a:t>Poiseuille profile and pressure gradient</a:t>
            </a:r>
            <a:endParaRPr sz="21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0DEBCA2-B098-492C-815D-B61C7CE6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435" y="4178647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22E3C0C-B52E-451A-9550-21113725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335" y="4178647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418FFCE-B216-4FA9-BC46-1E7A7530D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435" y="4750147"/>
            <a:ext cx="3285760" cy="4324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976"/>
              </a:lnSpc>
              <a:buNone/>
            </a:pPr>
            <a:r>
              <a:rPr sz="27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Model validation</a:t>
            </a:r>
            <a:endParaRPr sz="27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71E27E77-FC05-4185-AB0E-77F3788A4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435" y="5334967"/>
            <a:ext cx="3076667" cy="7314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buNone/>
            </a:pPr>
            <a:r>
              <a:rPr sz="2100">
                <a:solidFill>
                  <a:srgbClr val="3A4048"/>
                </a:solidFill>
                <a:latin typeface="Arial"/>
                <a:ea typeface="Arial"/>
                <a:cs typeface="Arial"/>
              </a:rPr>
              <a:t>Velocity RMSE and friction factor</a:t>
            </a:r>
            <a:endParaRPr sz="2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1A0AE0A5-4CF9-4008-9ADD-28ED1AC7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490" y="4178647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FCF64AC-D81F-4BD3-8CA9-4F07E42E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0390" y="4178647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  <a:endParaRPr sz="18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C352C97-F941-4703-B11B-A6FEDFAA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490" y="4750147"/>
            <a:ext cx="3076667" cy="8267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976"/>
              </a:lnSpc>
              <a:buNone/>
            </a:pPr>
            <a:r>
              <a:rPr sz="27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Measurement calibration</a:t>
            </a:r>
            <a:endParaRPr sz="27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31AAE2F-A967-4986-89F6-0C312EB2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8490" y="5729288"/>
            <a:ext cx="3285760" cy="3847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buNone/>
            </a:pPr>
            <a:r>
              <a:rPr sz="2100">
                <a:solidFill>
                  <a:srgbClr val="3A4048"/>
                </a:solidFill>
                <a:latin typeface="Arial"/>
                <a:ea typeface="Arial"/>
                <a:cs typeface="Arial"/>
              </a:rPr>
              <a:t>Force residual</a:t>
            </a:r>
            <a:endParaRPr sz="21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2BC2881B-4B86-410D-B1A4-227B04DF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6545" y="4178647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68E723AD-0BD7-4453-83AE-CAE931BC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48445" y="4178647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  <a:endParaRPr sz="18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E501F3F-596E-4525-8BEE-080FE7D9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6545" y="4750147"/>
            <a:ext cx="3076667" cy="12210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976"/>
              </a:lnSpc>
              <a:buNone/>
            </a:pPr>
            <a:r>
              <a:rPr sz="27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Wake characterisation and uncertainty</a:t>
            </a:r>
            <a:endParaRPr sz="27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EA3203BC-4BAB-464B-9F96-BA0D974E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6545" y="6123608"/>
            <a:ext cx="3076667" cy="7314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000"/>
              </a:lnSpc>
              <a:buNone/>
            </a:pPr>
            <a:r>
              <a:rPr sz="2100">
                <a:solidFill>
                  <a:srgbClr val="3A4048"/>
                </a:solidFill>
                <a:latin typeface="Arial"/>
                <a:ea typeface="Arial"/>
                <a:cs typeface="Arial"/>
              </a:rPr>
              <a:t>Strouhal number and force coefficients</a:t>
            </a:r>
            <a:endParaRPr sz="21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1C4DFABC-1C1D-4DA0-A5CF-B92FEF740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350398"/>
            <a:ext cx="1645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22DB9A3-6BE3-4E60-BE53-305EC383B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626623"/>
            <a:ext cx="5389321" cy="7581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6308"/>
              </a:lnSpc>
              <a:buNone/>
            </a:pPr>
            <a:r>
              <a:rPr sz="21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Verification 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— does the solver reproduce a known solution?</a:t>
            </a:r>
            <a:endParaRPr sz="21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9F00755-5A2C-4DA0-8C83-46F59393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7750" y="7626623"/>
            <a:ext cx="5389398" cy="7581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6308"/>
              </a:lnSpc>
              <a:buNone/>
            </a:pPr>
            <a:r>
              <a:rPr sz="21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Validation 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— does the model reproduce measurements?</a:t>
            </a:r>
            <a:endParaRPr sz="2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C2533C5-924A-4B37-BE31-C42444F2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1175" y="7626623"/>
            <a:ext cx="5389321" cy="7581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6308"/>
              </a:lnSpc>
              <a:buNone/>
            </a:pPr>
            <a:r>
              <a:rPr sz="21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Grid sensitivity 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— necessary, but not proof of physical accuracy.</a:t>
            </a:r>
            <a:endParaRPr sz="2100"/>
          </a:p>
        </p:txBody>
      </p:sp>
    </p:spTree>
    <p:extLst>
      <p:ext uri="{BB962C8B-B14F-4D97-AF65-F5344CB8AC3E}">
        <p14:creationId xmlns:p14="http://schemas.microsoft.com/office/powerpoint/2010/main" val="1557828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B3A5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D8B88CA-6BF6-416F-8CB7-A810C8B5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1760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spc="21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PART I</a:t>
            </a:r>
            <a:endParaRPr sz="2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A740384-87D1-4314-A7C9-5840FBF6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99979"/>
            <a:ext cx="15716250" cy="1181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6957"/>
              </a:lnSpc>
              <a:buNone/>
            </a:pPr>
            <a:r>
              <a:rPr sz="9000" b="1" spc="-180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Internal flow CFD</a:t>
            </a:r>
            <a:endParaRPr sz="9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CDAF43F-0E3F-4587-A9F2-BCDED72D9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47779"/>
            <a:ext cx="14716125" cy="10248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931"/>
              </a:lnSpc>
              <a:buNone/>
            </a:pPr>
            <a:r>
              <a:rPr sz="2850">
                <a:solidFill>
                  <a:srgbClr val="FFFFFF"/>
                </a:solidFill>
                <a:latin typeface="Arial"/>
                <a:ea typeface="Arial"/>
                <a:cs typeface="Arial"/>
              </a:rPr>
              <a:t>Grid sensitivity, analytical verification of laminar flow, and validation of four </a:t>
            </a:r>
            <a:r>
              <a:rPr sz="2850" i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</a:t>
            </a:r>
            <a:r>
              <a:rPr sz="2850">
                <a:solidFill>
                  <a:srgbClr val="FFFFFF"/>
                </a:solidFill>
                <a:latin typeface="Arial"/>
                <a:ea typeface="Arial"/>
                <a:cs typeface="Arial"/>
              </a:rPr>
              <a:t>–</a:t>
            </a:r>
            <a:r>
              <a:rPr sz="2850" i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ε </a:t>
            </a:r>
            <a:r>
              <a:rPr sz="2850">
                <a:solidFill>
                  <a:srgbClr val="FFFFFF"/>
                </a:solidFill>
                <a:latin typeface="Arial"/>
                <a:ea typeface="Arial"/>
                <a:cs typeface="Arial"/>
              </a:rPr>
              <a:t>closures against turbulent pipe measurements.</a:t>
            </a:r>
            <a:endParaRPr sz="28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F4E7E54-C3FE-4F89-8438-8B23EC17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977188"/>
            <a:ext cx="160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62F3234-234E-4755-8801-92349B1F9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262938"/>
            <a:ext cx="2942131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06 Numerical setup</a:t>
            </a:r>
            <a:endParaRPr sz="19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C28FF43-00CC-44C2-B034-96955F429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865" y="8262938"/>
            <a:ext cx="2451817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07 Laminar grid</a:t>
            </a:r>
            <a:endParaRPr sz="19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0E0E377-42C0-4487-BAA0-B8EB1D0E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0989" y="8262938"/>
            <a:ext cx="2778666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08 Turbulent grid</a:t>
            </a:r>
            <a:endParaRPr sz="19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B08D14C-EC72-476A-A8CF-9BCEE78A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249" y="8262938"/>
            <a:ext cx="3595911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09 Laminar development</a:t>
            </a:r>
            <a:endParaRPr sz="19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9EAF6D0-D0F2-4691-BC53-884C3540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0459" y="8262938"/>
            <a:ext cx="3432527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10 Poiseuille profile</a:t>
            </a:r>
            <a:endParaRPr sz="19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2410C2C-6616-4159-8FCB-44EB34FF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734425"/>
            <a:ext cx="3269062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11 Pressure gradient</a:t>
            </a:r>
            <a:endParaRPr sz="19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8E6BF6E-5CD7-41C3-85EA-56E5AA762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74" y="8734425"/>
            <a:ext cx="3922841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12 Turbulent development</a:t>
            </a:r>
            <a:endParaRPr sz="19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392E5C8-5A55-4A39-B30D-A1391418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494" y="8734425"/>
            <a:ext cx="3595911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13 Turbulent structure</a:t>
            </a:r>
            <a:endParaRPr sz="19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AEBABF1-A54F-48A0-9F79-3AB7C31E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21704" y="8734425"/>
            <a:ext cx="2451817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14 Wall scaling</a:t>
            </a:r>
            <a:endParaRPr sz="19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CD2ED10-8440-4741-BA5F-C06594AD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205913"/>
            <a:ext cx="3432527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15 Profile validation</a:t>
            </a:r>
            <a:endParaRPr sz="19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F91312A-D8D9-4ED2-ACE7-2AE46472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679" y="9205913"/>
            <a:ext cx="2942131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16 Friction factor</a:t>
            </a:r>
            <a:endParaRPr sz="1950"/>
          </a:p>
        </p:txBody>
      </p:sp>
    </p:spTree>
    <p:extLst>
      <p:ext uri="{BB962C8B-B14F-4D97-AF65-F5344CB8AC3E}">
        <p14:creationId xmlns:p14="http://schemas.microsoft.com/office/powerpoint/2010/main" val="19875749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5A9D96B-000E-4730-A9C0-DCE5CB9A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8B2A3F6-2056-4A2E-93DD-83FEA8A3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3817166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 · INTERNAL FLOW · CFD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61E35DB-A0FC-4D4E-929F-E1C3B9AC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06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60711F8-7ABA-4B9D-941B-84484D22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Numerical setup</a:t>
            </a:r>
            <a:endParaRPr sz="42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7B4DFA2-E47B-48AC-AC14-79DBDEF5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26371"/>
            <a:ext cx="332229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0E97052-66C5-44FA-9118-00FAA573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16796"/>
            <a:ext cx="3421959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Parameter</a:t>
            </a:r>
            <a:endParaRPr sz="18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ED1F6F9-6B6D-4D9F-8827-BC096F8C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690" y="3826371"/>
            <a:ext cx="195872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0778EB1-46EE-4085-9028-61010FA6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3416796"/>
            <a:ext cx="17272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Laminar</a:t>
            </a:r>
            <a:endParaRPr sz="18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9696BD8-BC70-469A-A961-A1628471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417" y="3826371"/>
            <a:ext cx="249138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FCA79F3-D5AB-412D-A684-7B959C2B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0500" y="3416796"/>
            <a:ext cx="20320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Turbulent</a:t>
            </a:r>
            <a:endParaRPr sz="18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45C1F099-AB6D-4021-9C2B-60434C1B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45496"/>
            <a:ext cx="332229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830F66A-A25E-42BB-B08B-9BBC1084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40671"/>
            <a:ext cx="3231459" cy="447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Diameter </a:t>
            </a:r>
            <a:r>
              <a:rPr sz="225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D</a:t>
            </a:r>
            <a:endParaRPr sz="22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6992526-82BA-4A35-8D5E-AEDA870F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690" y="4445496"/>
            <a:ext cx="195872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89687F0-B597-443E-84CE-225D8493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3940671"/>
            <a:ext cx="172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0.15 m</a:t>
            </a:r>
            <a:endParaRPr sz="22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919EA9E-7B6B-4F84-9C0E-650A0ED5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417" y="4445496"/>
            <a:ext cx="249138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2A0CDE8-6D76-45A0-AE69-2086C35A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0500" y="3940671"/>
            <a:ext cx="2032000" cy="447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0.10 m</a:t>
            </a:r>
            <a:endParaRPr sz="22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B3C07B5-18C7-42CD-BEF3-CD208C95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93196"/>
            <a:ext cx="332229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01E0303D-8B83-4782-87F9-52122585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50271"/>
            <a:ext cx="3231459" cy="485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Bulk velocity </a:t>
            </a:r>
            <a:r>
              <a:rPr sz="225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W</a:t>
            </a:r>
            <a:r>
              <a:rPr sz="1875">
                <a:solidFill>
                  <a:srgbClr val="1A1D21"/>
                </a:solidFill>
                <a:latin typeface="Arial"/>
                <a:ea typeface="Arial"/>
                <a:cs typeface="Arial"/>
              </a:rPr>
              <a:t>b</a:t>
            </a:r>
            <a:endParaRPr sz="22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B590F9C-C9B1-4CB1-B7E7-2F0A7398D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690" y="5093196"/>
            <a:ext cx="195872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2B646AF-E6F5-4E55-B337-D6675DC5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4550271"/>
            <a:ext cx="1727200" cy="485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0.45 m/s</a:t>
            </a:r>
            <a:endParaRPr sz="22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D9D0D4A-5C88-4E87-A65E-78234667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417" y="5093196"/>
            <a:ext cx="249138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6FD9459-0BAB-4874-9FB1-8887843C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0500" y="4550271"/>
            <a:ext cx="2032000" cy="485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0.75 m/s</a:t>
            </a:r>
            <a:endParaRPr sz="22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446310C-FADA-4129-B94D-7110B5CF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50421"/>
            <a:ext cx="332229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6E4FFFB-8392-42F5-9B63-2AC86D14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97971"/>
            <a:ext cx="3231459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Kinematic viscosity </a:t>
            </a:r>
            <a:r>
              <a:rPr sz="225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ν</a:t>
            </a:r>
            <a:endParaRPr sz="22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AA6E03BD-64E2-4B30-9350-8CE881679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690" y="5750421"/>
            <a:ext cx="195872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8B4958F-723A-41D1-A44F-89D4E9D1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5197971"/>
            <a:ext cx="172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3.5·10</a:t>
            </a:r>
            <a:r>
              <a:rPr sz="1875">
                <a:solidFill>
                  <a:srgbClr val="1A1D21"/>
                </a:solidFill>
                <a:latin typeface="Arial"/>
                <a:ea typeface="Arial"/>
                <a:cs typeface="Arial"/>
              </a:rPr>
              <a:t>−4 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m</a:t>
            </a:r>
            <a:r>
              <a:rPr sz="1875">
                <a:solidFill>
                  <a:srgbClr val="1A1D21"/>
                </a:solidFill>
                <a:latin typeface="Arial"/>
                <a:ea typeface="Arial"/>
                <a:cs typeface="Arial"/>
              </a:rPr>
              <a:t>2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/s</a:t>
            </a:r>
            <a:endParaRPr sz="22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CBDBF9F3-239C-4345-AA34-384BBEED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417" y="5750421"/>
            <a:ext cx="249138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C938813-A6ED-424D-9E1B-874DE932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0500" y="5197971"/>
            <a:ext cx="203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10</a:t>
            </a:r>
            <a:r>
              <a:rPr sz="1875">
                <a:solidFill>
                  <a:srgbClr val="1A1D21"/>
                </a:solidFill>
                <a:latin typeface="Arial"/>
                <a:ea typeface="Arial"/>
                <a:cs typeface="Arial"/>
              </a:rPr>
              <a:t>−6 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m</a:t>
            </a:r>
            <a:r>
              <a:rPr sz="1875">
                <a:solidFill>
                  <a:srgbClr val="1A1D21"/>
                </a:solidFill>
                <a:latin typeface="Arial"/>
                <a:ea typeface="Arial"/>
                <a:cs typeface="Arial"/>
              </a:rPr>
              <a:t>2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/s</a:t>
            </a:r>
            <a:endParaRPr sz="22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09304D17-6145-4F06-ADAB-B6C9F60B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59946"/>
            <a:ext cx="7772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DDF06D44-69C7-4945-BD1B-A9C8709A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98121"/>
            <a:ext cx="332229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B36CC09-2504-4F4E-9E82-5678630C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855196"/>
            <a:ext cx="3231459" cy="485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50" b="1" i="1">
                <a:solidFill>
                  <a:srgbClr val="1B3A5C"/>
                </a:solidFill>
                <a:latin typeface="Arial"/>
                <a:ea typeface="Arial"/>
                <a:cs typeface="Arial"/>
              </a:rPr>
              <a:t>Re</a:t>
            </a:r>
            <a:r>
              <a:rPr sz="1875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b </a:t>
            </a:r>
            <a:r>
              <a:rPr sz="225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= </a:t>
            </a:r>
            <a:r>
              <a:rPr sz="2250" b="1" i="1">
                <a:solidFill>
                  <a:srgbClr val="1B3A5C"/>
                </a:solidFill>
                <a:latin typeface="Arial"/>
                <a:ea typeface="Arial"/>
                <a:cs typeface="Arial"/>
              </a:rPr>
              <a:t>W</a:t>
            </a:r>
            <a:r>
              <a:rPr sz="1875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b</a:t>
            </a:r>
            <a:r>
              <a:rPr sz="2250" b="1" i="1">
                <a:solidFill>
                  <a:srgbClr val="1B3A5C"/>
                </a:solidFill>
                <a:latin typeface="Arial"/>
                <a:ea typeface="Arial"/>
                <a:cs typeface="Arial"/>
              </a:rPr>
              <a:t>D</a:t>
            </a:r>
            <a:r>
              <a:rPr sz="225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/</a:t>
            </a:r>
            <a:r>
              <a:rPr sz="2250" b="1" i="1">
                <a:solidFill>
                  <a:srgbClr val="1B3A5C"/>
                </a:solidFill>
                <a:latin typeface="Arial"/>
                <a:ea typeface="Arial"/>
                <a:cs typeface="Arial"/>
              </a:rPr>
              <a:t>ν</a:t>
            </a:r>
            <a:endParaRPr sz="225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28620029-3B64-4CF0-BD53-B3305CE4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690" y="6398121"/>
            <a:ext cx="195872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A48A256B-8F51-4160-820E-07BB6597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5855196"/>
            <a:ext cx="1727200" cy="485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25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192.9</a:t>
            </a:r>
            <a:endParaRPr sz="225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1B903D3C-6491-468D-933E-F934AB5AF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417" y="6398121"/>
            <a:ext cx="249138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DD058FED-41A1-43F6-8C4C-297950A8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0500" y="5855196"/>
            <a:ext cx="2032000" cy="4857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25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75,000</a:t>
            </a:r>
            <a:endParaRPr sz="225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542622CB-82DC-40F1-AB82-D19D8C942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02959"/>
            <a:ext cx="332229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20AB0FDB-F135-4CF2-ADBC-24F3E099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502896"/>
            <a:ext cx="3231459" cy="44291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Closure</a:t>
            </a:r>
            <a:endParaRPr sz="225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E5315E34-FB02-4DCA-9EA7-FA235333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6690" y="7002959"/>
            <a:ext cx="195872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2D696772-AA75-4ADF-9305-24A7B737C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00" y="6502896"/>
            <a:ext cx="1727200" cy="44291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—</a:t>
            </a:r>
            <a:endParaRPr sz="2250"/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CD14579D-E47C-4E25-8C82-FE05DE2D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417" y="7002959"/>
            <a:ext cx="249138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8A8D70B8-D515-4E58-881D-E8FF35C9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0500" y="6502896"/>
            <a:ext cx="2032000" cy="44291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4 k–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ε 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models</a:t>
            </a:r>
            <a:endParaRPr sz="2250"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EBF3F659-092A-4DD0-8DC2-3EA89585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283946"/>
            <a:ext cx="8005572" cy="10968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Axisymmetric pipe solved with PHOENICS. Turbulent closures: standard, RNG, realisable and low-Re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k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–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ε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. The comparison is specific to the implemented grids and wall treatments.</a:t>
            </a:r>
            <a:endParaRPr sz="2025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55294254-8D27-4074-B99E-BF97ABF1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92835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1BC4C707-AA1D-4A0B-8F97-A62398C8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554760"/>
            <a:ext cx="854964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Grid sensitivity, successive grids</a:t>
            </a:r>
            <a:endParaRPr sz="180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28E06B17-6F4B-4245-99DF-D8F8381D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954810"/>
            <a:ext cx="8005572" cy="572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ε</a:t>
            </a:r>
            <a:r>
              <a:rPr sz="20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i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,</a:t>
            </a:r>
            <a:r>
              <a:rPr sz="20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i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+1 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= ‖</a:t>
            </a: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φ</a:t>
            </a:r>
            <a:r>
              <a:rPr sz="20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i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int 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− </a:t>
            </a: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φ</a:t>
            </a:r>
            <a:r>
              <a:rPr sz="20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i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+1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‖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∞ 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/ ‖</a:t>
            </a: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φ</a:t>
            </a:r>
            <a:r>
              <a:rPr sz="20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i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+1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‖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∞</a:t>
            </a:r>
            <a:endParaRPr sz="2400"/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747BD6C1-7126-44F3-A769-8757987A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717405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4E9C3A1D-0CFE-4000-B054-5A0F1FC5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879330"/>
            <a:ext cx="854964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Developed flow</a:t>
            </a:r>
            <a:endParaRPr sz="1800"/>
          </a:p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89AABAB4-B364-4FF8-9456-845E468C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279380"/>
            <a:ext cx="8005572" cy="572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ε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p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(</a:t>
            </a: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z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) = ‖</a:t>
            </a: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W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(</a:t>
            </a: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r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,</a:t>
            </a: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z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) − </a:t>
            </a: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W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ref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(</a:t>
            </a: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r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)‖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∞ 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/ ‖</a:t>
            </a: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W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ref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‖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∞ 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≤ 10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−3</a:t>
            </a:r>
            <a:endParaRPr sz="240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BD78F31D-C554-4FD9-BE6F-A0807046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041975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E262A989-FFE8-440F-9073-9143D500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203900"/>
            <a:ext cx="854964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Darcy friction factor</a:t>
            </a:r>
            <a:endParaRPr sz="1800"/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7D4AFD2C-7886-426A-B9C8-A39C56FEF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603950"/>
            <a:ext cx="8005572" cy="572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f 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= 8</a:t>
            </a: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τ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w 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/ (</a:t>
            </a: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ρW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b</a:t>
            </a:r>
            <a:r>
              <a:rPr sz="2000">
                <a:solidFill>
                  <a:srgbClr val="1A1D21"/>
                </a:solidFill>
                <a:latin typeface="Arial"/>
                <a:ea typeface="Arial"/>
                <a:cs typeface="Arial"/>
              </a:rPr>
              <a:t>2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)</a:t>
            </a:r>
            <a:endParaRPr sz="2400"/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A2BB22E6-BFCF-4C5D-8EE2-D327CEB1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7366546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5B611A6D-6F22-46BB-9935-0085CDC8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7528471"/>
            <a:ext cx="854964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Profile validation</a:t>
            </a:r>
            <a:endParaRPr sz="1800"/>
          </a:p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25E04B87-3D7F-43F8-82A0-F3284FA27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7928521"/>
            <a:ext cx="8549640" cy="476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Normalised RMSE on experimental radial coordinates</a:t>
            </a: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2009685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302325D-D243-42D2-AC1F-FDBE8C16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DF5E606-2A94-4574-8235-DEA1B902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3817166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 · INTERNAL FLOW · CFD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1226195-A338-4C4E-BD53-2902B6B8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07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316BE94-C0A0-4857-A422-58241559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Laminar grid: medium–fine differences below 1%</a:t>
            </a:r>
            <a:endParaRPr sz="4200"/>
          </a:p>
        </p:txBody>
      </p:sp>
      <p:pic>
        <p:nvPicPr>
          <p:cNvPr id="1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89a1a5fdd949b1"/>
          <a:srcRect xmlns:a="http://schemas.openxmlformats.org/drawingml/2006/main" l="0" t="-5982" r="0" b="-5982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16459200" cy="5967710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1974AAA-569A-4652-AE4D-A1520E26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06966"/>
            <a:ext cx="569976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METHOD</a:t>
            </a:r>
            <a:endParaRPr sz="18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C5439D6-DEAE-4D55-90C9-1810ADDF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459391"/>
            <a:ext cx="5337048" cy="144660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Three grids per path. Radial and combined: velocity profile at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z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≈ 0.8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L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. Axial: pressure at half radius. Coarse result interpolated onto the finer grid.</a:t>
            </a:r>
            <a:endParaRPr sz="2025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C23EE7B-4FD9-4DA2-8B7D-A796F71E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8106966"/>
            <a:ext cx="569976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CB75F65-6C63-4638-948F-B402787A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8459391"/>
            <a:ext cx="5337048" cy="1087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Radial 2.36 → 0.52%, axial 0.41 → 0.23%, combined 1.44 → 0.93%. No change in shape and no spurious oscillations.</a:t>
            </a:r>
            <a:endParaRPr sz="2025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E1DA7131-E3B4-4C43-B224-2E15AEB3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106966"/>
            <a:ext cx="569976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IMPLICATION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DBBB4A2-BE47-49BE-82AE-EB184E9D6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459391"/>
            <a:ext cx="5337048" cy="1087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The finest grid is retained. Pairwise differences, not a formal GCI: the refinement ratio is not uniform across directions.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2325428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B25CECD-1972-4596-A2C3-8135782B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88A2635-B9CB-4996-B3B0-9EF60A096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3817166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 · INTERNAL FLOW · CFD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98964B5-28E0-49AB-B244-C7D35E07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08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2830726B-A1F0-45AE-A907-C2D19F41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Turbulent grid: lower sensitivity than the laminar case</a:t>
            </a:r>
            <a:endParaRPr sz="4200"/>
          </a:p>
        </p:txBody>
      </p:sp>
      <p:pic>
        <p:nvPicPr>
          <p:cNvPr id="1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8cc71b26f45bc"/>
          <a:srcRect xmlns:a="http://schemas.openxmlformats.org/drawingml/2006/main" l="0" t="-6072" r="0" b="-6072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16459200" cy="5977235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DC2C92A-781A-4C68-B820-2D9B609A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16491"/>
            <a:ext cx="569976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GRIDS</a:t>
            </a:r>
            <a:endParaRPr sz="18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D41C1AC-08CA-4CF2-AAAB-96F59618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468916"/>
            <a:ext cx="5337048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Radial 10 / 25 / 50 cells, axial 100 / 150 / 200 cells, combined 10×100 → 25×250.</a:t>
            </a:r>
            <a:endParaRPr sz="2025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27EB0CF-625D-46BF-87A8-E88AB7F42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8116491"/>
            <a:ext cx="569976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A1AFAC8-1731-490C-8940-20A2B561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8468916"/>
            <a:ext cx="5337048" cy="1087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Medium–fine differences 0.24% radial, 0.13% axial, 0.37% combined. Residual differences concentrate near the wall.</a:t>
            </a:r>
            <a:endParaRPr sz="2025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04E8074A-AED1-423A-B121-C0E8B970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116491"/>
            <a:ext cx="569976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IMPLICATION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8CC6890-3996-46D8-80AF-C27C22E4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468916"/>
            <a:ext cx="5337048" cy="14370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The tested refinements produce small profile changes. Model differences are interpreted for these grids and wall treatments.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13349842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C96670E-EE6E-4BA6-89E1-CDBB352A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3148E6E-8198-4BFA-93FC-A160AE60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3817166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 · INTERNAL FLOW · CFD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DA0D6A9-7C0D-4785-BEEA-07830304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09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4E45E54-830D-40E0-A0F1-507B52F2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Laminar entry length depends on its definition</a:t>
            </a:r>
            <a:endParaRPr sz="4200"/>
          </a:p>
        </p:txBody>
      </p:sp>
      <p:pic>
        <p:nvPicPr>
          <p:cNvPr id="2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6f40fc67f74ba0"/>
          <a:srcRect xmlns:a="http://schemas.openxmlformats.org/drawingml/2006/main" l="0" t="-12565" r="0" b="-12565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8958411" cy="7976295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34B3A79-3C9A-4866-ABD1-57A7A5F6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393802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CRITERION</a:t>
            </a:r>
            <a:endParaRPr sz="18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938AF1C-21D3-4F11-89AF-6B0C31F6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746227"/>
            <a:ext cx="7097924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First axial station where the full profile is within 0.1% of the last interior profile.</a:t>
            </a:r>
            <a:endParaRPr sz="2025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15AC7B3E-69F8-4AE2-9727-7D50E0181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693369"/>
            <a:ext cx="689118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5582499-A5D2-411F-9329-4B7DB546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893394"/>
            <a:ext cx="3601559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Correlation 0.0575 </a:t>
            </a: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Re D</a:t>
            </a:r>
            <a:endParaRPr sz="1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7387AD33-AC07-41FA-BCC6-0AED6505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5255344"/>
            <a:ext cx="3601559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1.663 </a:t>
            </a:r>
            <a:r>
              <a:rPr sz="1950">
                <a:solidFill>
                  <a:srgbClr val="1B3A5C"/>
                </a:solidFill>
                <a:latin typeface="Arial"/>
                <a:ea typeface="Arial"/>
                <a:cs typeface="Arial"/>
              </a:rPr>
              <a:t>m</a:t>
            </a:r>
            <a:endParaRPr sz="33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17B9B33-7F46-4D74-802F-517F95D0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4893394"/>
            <a:ext cx="3601559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Numerical, 0.1% criterion</a:t>
            </a:r>
            <a:endParaRPr sz="1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BE7B331-CB1F-4DE4-8467-746F7FF3C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5255344"/>
            <a:ext cx="3601559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2.113 </a:t>
            </a:r>
            <a:r>
              <a:rPr sz="1950">
                <a:solidFill>
                  <a:srgbClr val="0B7A75"/>
                </a:solidFill>
                <a:latin typeface="Arial"/>
                <a:ea typeface="Arial"/>
                <a:cs typeface="Arial"/>
              </a:rPr>
              <a:t>m</a:t>
            </a:r>
            <a:endParaRPr sz="3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A3BC2C97-AF80-41BC-BB6D-A649DD34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5963989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149AFB2-D6C0-441E-B434-961E2D77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6316414"/>
            <a:ext cx="7097924" cy="7878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Centreline velocity tends to 2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W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b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; the profile distance decreases monotonically.</a:t>
            </a:r>
            <a:endParaRPr sz="2025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5B87B64E-5ACB-4D81-AD02-CDC12D42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7313786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IMPLICATION</a:t>
            </a:r>
            <a:endParaRPr sz="18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E91F1438-2100-4F7E-A9EC-0B1AA39F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7666211"/>
            <a:ext cx="7097924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The 27% gap reflects the strict full-profile threshold and discrete axial sampling. The asymptotic state is correct.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12616509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5AE100E-1C0E-4182-BC41-B0456BE3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849AD22-D609-4C58-81EB-15304003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3817166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 · INTERNAL FLOW · CFD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07EAE5A-D2EF-42AC-8A3C-77EEDAAB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10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61B6DF0-03D0-46B7-A3E6-07F7EF85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Developed profile matches Poiseuille within 3.2%</a:t>
            </a:r>
            <a:endParaRPr sz="4200"/>
          </a:p>
        </p:txBody>
      </p:sp>
      <p:pic>
        <p:nvPicPr>
          <p:cNvPr id="2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558667c7124603"/>
          <a:srcRect xmlns:a="http://schemas.openxmlformats.org/drawingml/2006/main" l="0" t="-14057" r="0" b="-14057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8958411" cy="7976295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055D846F-42CA-43D5-BA04-3ED1609D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198168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REFERENCE</a:t>
            </a:r>
            <a:endParaRPr sz="18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0416F226-B667-4669-A7A5-E4C52468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550593"/>
            <a:ext cx="7097924" cy="476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W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/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W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b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= 2[1 − (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r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/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R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)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2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]</a:t>
            </a:r>
            <a:endParaRPr sz="2025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C254FB0F-0FD1-423D-962C-0A9D39DD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236318"/>
            <a:ext cx="689118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A13E414-25C9-4E92-9AD7-7C55AEF7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436343"/>
            <a:ext cx="3601559" cy="3981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Profile </a:t>
            </a: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L</a:t>
            </a:r>
            <a:r>
              <a:rPr sz="1500">
                <a:solidFill>
                  <a:srgbClr val="5B6470"/>
                </a:solidFill>
                <a:latin typeface="Arial"/>
                <a:ea typeface="Arial"/>
                <a:cs typeface="Arial"/>
              </a:rPr>
              <a:t>∞ </a:t>
            </a: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error</a:t>
            </a:r>
            <a:endParaRPr sz="1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B87018F-5B5E-449B-B48D-5E044481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834458"/>
            <a:ext cx="3601559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3.18%</a:t>
            </a:r>
            <a:endParaRPr sz="33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31BFEC0-6877-4CA8-A82D-9C32564C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4436343"/>
            <a:ext cx="3601559" cy="3981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Reconstructed </a:t>
            </a: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W</a:t>
            </a:r>
            <a:r>
              <a:rPr sz="1500">
                <a:solidFill>
                  <a:srgbClr val="5B6470"/>
                </a:solidFill>
                <a:latin typeface="Arial"/>
                <a:ea typeface="Arial"/>
                <a:cs typeface="Arial"/>
              </a:rPr>
              <a:t>b</a:t>
            </a:r>
            <a:endParaRPr sz="1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38B0B9A-4B42-4C12-9B94-BFE3C35C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4834458"/>
            <a:ext cx="3601559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0.4523 </a:t>
            </a:r>
            <a:r>
              <a:rPr sz="1950">
                <a:solidFill>
                  <a:srgbClr val="1B3A5C"/>
                </a:solidFill>
                <a:latin typeface="Arial"/>
                <a:ea typeface="Arial"/>
                <a:cs typeface="Arial"/>
              </a:rPr>
              <a:t>m/s · 0.51%</a:t>
            </a:r>
            <a:endParaRPr sz="3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3158E76E-19E4-447B-885B-CEAEA9BC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5543104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C3575B-0FFC-4718-9D39-7DE394AE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580" y="5944870"/>
            <a:ext cx="7098030" cy="1054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The largest differences occur near the wall, where the computed radial profile is steep.</a:t>
            </a:r>
            <a:endParaRPr sz="2025">
              <a:solidFill>
                <a:srgbClr val="1A1D2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C6FDB95-5FDA-4ACC-991B-1120E7BD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580" y="7302500"/>
            <a:ext cx="7580630" cy="3327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IMPLICATION</a:t>
            </a:r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2491CD1-E3B1-48CE-A0C3-A0B2EF4E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580" y="7721600"/>
            <a:ext cx="7098030" cy="1422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The computed profile agrees closely with Poiseuille flow on the tested mesh. The remaining local error has not been isolated.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9363101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A12671C-A809-4159-9DA9-E42AA7B8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56A4E84-5BB3-4B02-BA29-BB983549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3817166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 · INTERNAL FLOW · CFD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E0FA063-2310-432E-A39C-9AF1A5D2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11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7464C55-8028-43C7-8E01-F4867E9C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Pressure gradient matches the analytical value within 1.24%</a:t>
            </a:r>
            <a:endParaRPr sz="4200"/>
          </a:p>
        </p:txBody>
      </p:sp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a43b4a0feb4f9b"/>
          <a:srcRect xmlns:a="http://schemas.openxmlformats.org/drawingml/2006/main" l="0" t="-19088" r="0" b="-19088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8958411" cy="7976295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E546ED0-FB07-479F-AECB-B2A18209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525813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METHOD</a:t>
            </a:r>
            <a:endParaRPr sz="18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03935282-6423-43CC-A553-074867DE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878238"/>
            <a:ext cx="7097924" cy="8735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Area-weighted pressure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p̄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(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z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) = (2/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R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2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)∫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p r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d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r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; least-squares slope over the developed stations. Reference −32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μW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b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/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D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2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.</a:t>
            </a:r>
            <a:endParaRPr sz="2025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9B2CFF8D-AB7E-45AC-9238-6B6B5118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961334"/>
            <a:ext cx="689118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D3FF0322-BAB1-433F-AB66-EC3FFD09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5161359"/>
            <a:ext cx="2275255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Analytical</a:t>
            </a:r>
            <a:endParaRPr sz="1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2E1AE71-16FB-4D62-97BC-10EC2085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5523309"/>
            <a:ext cx="2275255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−203.84 </a:t>
            </a:r>
            <a:r>
              <a:rPr sz="1950">
                <a:solidFill>
                  <a:srgbClr val="1A1D21"/>
                </a:solidFill>
                <a:latin typeface="Arial"/>
                <a:ea typeface="Arial"/>
                <a:cs typeface="Arial"/>
              </a:rPr>
              <a:t>Pa/m</a:t>
            </a:r>
            <a:endParaRPr sz="33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F7D354-0EC0-4681-97A7-A54770CD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3725" y="5161359"/>
            <a:ext cx="2275336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CFD</a:t>
            </a:r>
            <a:endParaRPr sz="1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FC45C95-5A19-4D25-BBD8-320991FD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3725" y="5523309"/>
            <a:ext cx="2275336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−201.32 </a:t>
            </a:r>
            <a:r>
              <a:rPr sz="1950">
                <a:solidFill>
                  <a:srgbClr val="1B3A5C"/>
                </a:solidFill>
                <a:latin typeface="Arial"/>
                <a:ea typeface="Arial"/>
                <a:cs typeface="Arial"/>
              </a:rPr>
              <a:t>Pa/m</a:t>
            </a:r>
            <a:endParaRPr sz="3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3FF3DF6-F578-40CB-9780-CD3F46FD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5112" y="5161359"/>
            <a:ext cx="2275255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Error</a:t>
            </a:r>
            <a:endParaRPr sz="1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A66B5CB-BAAC-4B0A-A7E9-0F0FA209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5112" y="5523309"/>
            <a:ext cx="2275255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1.24%</a:t>
            </a:r>
            <a:endParaRPr sz="33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7E3B492-A07D-495B-A086-334D1294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6231954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C2BFF76-B2B1-42B1-9C3D-09F0E58F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6584379"/>
            <a:ext cx="7580308" cy="38784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Pressure becomes linear once inlet development is complete.</a:t>
            </a:r>
            <a:endParaRPr sz="2025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E2976A2E-25C3-43C0-9FDF-57A83F27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7181776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IMPLICATION</a:t>
            </a:r>
            <a:endParaRPr sz="18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A3E98E6-0392-4CB9-B3C6-09A8E82D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7534201"/>
            <a:ext cx="7097924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The integral momentum balance and the implied wall shear are verified independently of the profile.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21342586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F00704E-2CFA-473B-B138-ABA22D77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2F9AD82-737D-4851-997F-E8ABE6813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3817166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 · INTERNAL FLOW · CFD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F213D1C-7118-4D63-AF2B-E67755C3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12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962EE10-62CF-41F6-A849-8BD2D8E3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Turbulent flow: the centreline converges before the profile</a:t>
            </a:r>
            <a:endParaRPr sz="4200"/>
          </a:p>
        </p:txBody>
      </p:sp>
      <p:pic>
        <p:nvPicPr>
          <p:cNvPr id="2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e76bbef5134b0e"/>
          <a:srcRect xmlns:a="http://schemas.openxmlformats.org/drawingml/2006/main" l="0" t="-25113" r="0" b="-25113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8958411" cy="7976295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EC91EEB3-4992-45FB-AEAC-84B67DC3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872359"/>
            <a:ext cx="689118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81C56C7C-1014-42B8-B21A-CA21BC41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072384"/>
            <a:ext cx="3372369" cy="40481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Correlation 1.359 </a:t>
            </a: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D Re</a:t>
            </a:r>
            <a:r>
              <a:rPr sz="1500">
                <a:solidFill>
                  <a:srgbClr val="5B6470"/>
                </a:solidFill>
                <a:latin typeface="Arial"/>
                <a:ea typeface="Arial"/>
                <a:cs typeface="Arial"/>
              </a:rPr>
              <a:t>1/4</a:t>
            </a:r>
            <a:endParaRPr sz="1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431A26F-26D0-4EF1-A1ED-48A6A4D3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477196"/>
            <a:ext cx="3601559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2.249 </a:t>
            </a:r>
            <a:r>
              <a:rPr sz="1950">
                <a:solidFill>
                  <a:srgbClr val="1B3A5C"/>
                </a:solidFill>
                <a:latin typeface="Arial"/>
                <a:ea typeface="Arial"/>
                <a:cs typeface="Arial"/>
              </a:rPr>
              <a:t>m</a:t>
            </a:r>
            <a:endParaRPr sz="33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581CB059-6DB3-4144-8DAD-3AC55B4F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4072384"/>
            <a:ext cx="3601559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Full-profile 0.1% criterion</a:t>
            </a:r>
            <a:endParaRPr sz="1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876819A0-3DD7-4B5F-B0EE-8627ECB8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4434334"/>
            <a:ext cx="3601559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9.85 </a:t>
            </a:r>
            <a:r>
              <a:rPr sz="1950">
                <a:solidFill>
                  <a:srgbClr val="0B7A75"/>
                </a:solidFill>
                <a:latin typeface="Arial"/>
                <a:ea typeface="Arial"/>
                <a:cs typeface="Arial"/>
              </a:rPr>
              <a:t>m</a:t>
            </a:r>
            <a:endParaRPr sz="33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1B27F7C-0A69-4914-888D-A0908C2D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5185842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7C8C7FC2-4C95-41A6-BE18-4BFFA291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5538267"/>
            <a:ext cx="7097924" cy="1087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Centreline velocity stabilises early; the full radial profile keeps changing weakly downstream. Pressure decreases linearly once developed.</a:t>
            </a:r>
            <a:endParaRPr sz="2025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8343A37-AE19-4722-86A1-F47C1473C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6835155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IMPLICATION</a:t>
            </a:r>
            <a:endParaRPr sz="1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1FCE72A-4E05-44F3-BB38-A5346C62F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7187580"/>
            <a:ext cx="7097924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A turbulent entry length is not unique: it depends on the observable and on the threshold used to define it.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123554739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3BD03AD-D6DF-4D3C-8499-DBE56971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1777032-0E46-4515-AB99-3E19EACB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3817166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 · INTERNAL FLOW · CFD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51A8021-E1E6-4F2A-B88D-E85DFCCA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13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CF6646B-5633-47FC-869E-E42BE8C1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Developed turbulent field: flat core, active wall region</a:t>
            </a:r>
            <a:endParaRPr sz="4200"/>
          </a:p>
        </p:txBody>
      </p:sp>
      <p:pic>
        <p:nvPicPr>
          <p:cNvPr id="1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a0cd804324e6c"/>
          <a:srcRect xmlns:a="http://schemas.openxmlformats.org/drawingml/2006/main" l="0" t="-16709" r="0" b="-16709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8958411" cy="7976295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4E0A351-266C-417D-B797-658E58C4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711848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FIELDS</a:t>
            </a:r>
            <a:endParaRPr sz="18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82379B6F-4380-4B67-A7C3-DD87C1604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111512"/>
            <a:ext cx="7097924" cy="10749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Mean velocity, eddy-viscosity ratio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ν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t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/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ν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, turbulent kinetic energy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k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and dissipation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ε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in the developed region, standard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k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–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ε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.</a:t>
            </a:r>
            <a:endParaRPr sz="2025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21B817C-1E36-45FB-8981-F5EDF804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5252784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610F360-E9B1-4B7A-AB30-B6FDB2CD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5652448"/>
            <a:ext cx="7097924" cy="10968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The mean profile is flatter than the laminar parabola.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k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and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ε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increase towards the wall, consistent with shear production. Symmetry about the axis is preserved.</a:t>
            </a:r>
            <a:endParaRPr sz="2025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BCC0C55D-7245-4BD0-A9AD-689BE053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6815600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IMPLICATION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023958E-DA36-4DA4-8161-F4684FB2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7215262"/>
            <a:ext cx="7097924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The solution is physically consistent before any comparison with measured data.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21187595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F473D79-F84C-4BEA-86CC-BEB3C0EA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50CFAA9-8B07-4F09-9C74-70454405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3817166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 · INTERNAL FLOW · CFD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50E0138-A5A7-445D-8BA4-445589E32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14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0C95026-9DF0-4469-9DB9-9A7FC212D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Inner scaling: the profile crosses the logarithmic range</a:t>
            </a:r>
            <a:endParaRPr sz="4200"/>
          </a:p>
        </p:txBody>
      </p:sp>
      <p:pic>
        <p:nvPicPr>
          <p:cNvPr id="2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063dc9c734a5e"/>
          <a:srcRect xmlns:a="http://schemas.openxmlformats.org/drawingml/2006/main" l="0" t="-13509" r="0" b="-13509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8958411" cy="7976295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DA5C9AA8-2113-48C5-9FF8-0A325C2D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329508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SCALING</a:t>
            </a:r>
            <a:endParaRPr sz="18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83014977-DABE-4A82-85F4-E10E546C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681933"/>
            <a:ext cx="7097924" cy="8259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u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τ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= (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τ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w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/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ρ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)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1/2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,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y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+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=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y u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τ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/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ν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,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W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+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=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W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/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u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τ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. Compared with viscous and logarithmic laws.</a:t>
            </a:r>
            <a:endParaRPr sz="2025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1FA0F913-E974-498F-BD7D-AE0841BF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717405"/>
            <a:ext cx="689118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594FD4F-B2F9-4010-B1CC-C9B519E1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917430"/>
            <a:ext cx="3601559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Friction velocity</a:t>
            </a:r>
            <a:endParaRPr sz="1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4E08A5B8-BA0E-481C-87F4-628B1747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5279380"/>
            <a:ext cx="3601559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0.03654 </a:t>
            </a:r>
            <a:r>
              <a:rPr sz="1950">
                <a:solidFill>
                  <a:srgbClr val="1B3A5C"/>
                </a:solidFill>
                <a:latin typeface="Arial"/>
                <a:ea typeface="Arial"/>
                <a:cs typeface="Arial"/>
              </a:rPr>
              <a:t>m/s</a:t>
            </a:r>
            <a:endParaRPr sz="33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51AA97F-7DA1-4043-9569-336574C0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4917430"/>
            <a:ext cx="3372369" cy="40481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Maximum plotted </a:t>
            </a: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y</a:t>
            </a:r>
            <a:r>
              <a:rPr sz="1500">
                <a:solidFill>
                  <a:srgbClr val="5B6470"/>
                </a:solidFill>
                <a:latin typeface="Arial"/>
                <a:ea typeface="Arial"/>
                <a:cs typeface="Arial"/>
              </a:rPr>
              <a:t>+</a:t>
            </a:r>
            <a:endParaRPr sz="1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68504D1-7E36-4574-8614-564AA36A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5322243"/>
            <a:ext cx="3601559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≈ 1699</a:t>
            </a:r>
            <a:endParaRPr sz="3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62C150B-163B-43E9-AEB9-FEF845C3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6030888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FC91C0D-A135-49D0-A3C1-89D508B86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6383313"/>
            <a:ext cx="7097924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The computed profile follows the logarithmic law over the resolved range.</a:t>
            </a:r>
            <a:endParaRPr sz="2025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24C39AA-73FB-4780-A241-DCF7A2CF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7330455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SCOPE</a:t>
            </a:r>
            <a:endParaRPr sz="18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D600F21-9A14-43BF-ADF5-CCC8D1A7F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7682880"/>
            <a:ext cx="7097924" cy="78521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Maximum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y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+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is the wall-to-axis distance. The near-wall resolution cannot be reconstructed from the compact exports.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135526788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BE4AF6C-1D89-4687-AF5D-54E68AEE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736324E-40CF-4A25-985D-6E296575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3817166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 · INTERNAL FLOW · CFD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936DA4B-0615-4CF2-B5B0-96024254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15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6EF97A6-9281-4FEF-B6BC-7396CA2E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All four closures reproduce the measured profile shape</a:t>
            </a:r>
            <a:endParaRPr sz="4200"/>
          </a:p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e1b8d31a1843c2"/>
          <a:srcRect xmlns:a="http://schemas.openxmlformats.org/drawingml/2006/main" l="0" t="-17469" r="0" b="-17469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8477622" cy="7976295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FCB3A2A-972D-4DCA-AF41-CDDF5CAC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3183434"/>
            <a:ext cx="8109094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METHOD</a:t>
            </a:r>
            <a:endParaRPr sz="18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5C50D75B-E87A-4047-A97C-A52BE03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3535859"/>
            <a:ext cx="7593061" cy="7878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CFD profiles interpolated to the experimental radial coordinates; normalised RMSE against two measured series at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Re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b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= 75,000.</a:t>
            </a:r>
            <a:endParaRPr sz="2025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AF086B83-9C5A-46FD-A97A-C5FDF6C3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4942805"/>
            <a:ext cx="437368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E73E6F6-6330-49AC-A530-ACB40741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4533230"/>
            <a:ext cx="4504897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Model</a:t>
            </a:r>
            <a:endParaRPr sz="18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1512AC2E-6EFE-4B8B-8B80-FA6A5664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75309" y="4942805"/>
            <a:ext cx="299821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BA9A24E9-6B2E-416D-B524-8E0D0476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5362" y="4533230"/>
            <a:ext cx="308816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Profile RMSE</a:t>
            </a:r>
            <a:endParaRPr sz="18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0A354FD8-CE8F-44CD-BABA-752FEC88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4961855"/>
            <a:ext cx="7371904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06F994F-A880-4561-A9F1-483414AB4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5533355"/>
            <a:ext cx="437368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D6EA2765-585F-4845-A53F-42BF486A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872" y="5057105"/>
            <a:ext cx="4314397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Standard </a:t>
            </a:r>
            <a:r>
              <a:rPr sz="2100" b="1" i="1">
                <a:solidFill>
                  <a:srgbClr val="1B3A5C"/>
                </a:solidFill>
                <a:latin typeface="Arial"/>
                <a:ea typeface="Arial"/>
                <a:cs typeface="Arial"/>
              </a:rPr>
              <a:t>k</a:t>
            </a:r>
            <a:r>
              <a:rPr sz="21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–</a:t>
            </a:r>
            <a:r>
              <a:rPr sz="2100" b="1" i="1">
                <a:solidFill>
                  <a:srgbClr val="1B3A5C"/>
                </a:solidFill>
                <a:latin typeface="Arial"/>
                <a:ea typeface="Arial"/>
                <a:cs typeface="Arial"/>
              </a:rPr>
              <a:t>ε</a:t>
            </a:r>
            <a:endParaRPr sz="21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4910A282-F9A7-49BB-B1BB-B0ECD674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75309" y="5533355"/>
            <a:ext cx="299821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2D1740C-B5AB-40C1-8E2A-AC2888C0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0612" y="5057105"/>
            <a:ext cx="2897664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0.0158</a:t>
            </a:r>
            <a:endParaRPr sz="21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2ECBD464-05B3-4699-8F50-2C8E7418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6109618"/>
            <a:ext cx="437368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272D042-560E-440E-9E92-17BABF72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872" y="5638130"/>
            <a:ext cx="4314397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RNG 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k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–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ε</a:t>
            </a:r>
            <a:endParaRPr sz="21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4CC522C-1D00-4D8A-A032-3FB5BAEF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75309" y="6109618"/>
            <a:ext cx="299821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4CFA320-CD6F-4FEA-A767-4255203F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0612" y="5638130"/>
            <a:ext cx="2897664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0.0166</a:t>
            </a:r>
            <a:endParaRPr sz="210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FFC3A18-C02E-471B-8D7D-0CA2A7C3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6685880"/>
            <a:ext cx="437368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F89FA636-5DEA-4CFD-9838-9DEF04B8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872" y="6214393"/>
            <a:ext cx="4314397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Realisable 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k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–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ε</a:t>
            </a:r>
            <a:endParaRPr sz="21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2D5477CF-3C6A-4184-953C-FE4AF37D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75309" y="6685880"/>
            <a:ext cx="299821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6591F362-8B91-41FD-AF15-AA344865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0612" y="6214393"/>
            <a:ext cx="2897664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0.0195</a:t>
            </a:r>
            <a:endParaRPr sz="21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22BE875-AED6-4B3F-ABB3-A3B18020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7262143"/>
            <a:ext cx="437368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FEB44D34-CA40-40AC-9F57-5123FA78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872" y="6790655"/>
            <a:ext cx="4314397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Low-Re 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k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–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ε</a:t>
            </a:r>
            <a:endParaRPr sz="210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173D27A-DDD8-4F1B-833C-FB919F20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75309" y="7262143"/>
            <a:ext cx="299821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16E17F3C-7483-42C3-82A5-3C56381B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0612" y="6790655"/>
            <a:ext cx="2897664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0.0214</a:t>
            </a:r>
            <a:endParaRPr sz="21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61DDA25-20E2-4F51-A95A-38207559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7524080"/>
            <a:ext cx="8109094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IMPLICATION</a:t>
            </a:r>
            <a:endParaRPr sz="1800"/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D70F8FC-0D81-4BF7-8D17-8AF703A63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7876505"/>
            <a:ext cx="7593061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RMSE spans only 0.016–0.021: profile shape alone weakly discriminates between closures. Wall friction is needed.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169863230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B315100-70AC-48BD-93A5-AEC4DFA8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FB243C0-91FC-45F2-8047-F33C4D5F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3817166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 · INTERNAL FLOW · CFD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8984635-FB07-48D2-81BD-52B8BE9E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16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C885F36-23EA-4395-8438-E19E5C8E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Wall friction discriminates between the closures</a:t>
            </a:r>
            <a:endParaRPr sz="4200"/>
          </a:p>
        </p:txBody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66017be650405c"/>
          <a:srcRect xmlns:a="http://schemas.openxmlformats.org/drawingml/2006/main" l="0" t="-28039" r="0" b="-28039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8477622" cy="7976295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088D87AC-AEFC-4344-876C-A373483B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2893442"/>
            <a:ext cx="8109094" cy="3905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5B6470"/>
                </a:solidFill>
                <a:latin typeface="Arial"/>
                <a:ea typeface="Arial"/>
                <a:cs typeface="Arial"/>
              </a:rPr>
              <a:t>References: experiment 0.0190 · Prandtl 0.01912 · Haaland 0.01895</a:t>
            </a:r>
            <a:endParaRPr sz="195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9F97E634-D1B0-481B-9D1D-2259FB7D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3903092"/>
            <a:ext cx="328032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47A055F-6949-44E6-9061-3E6E21B5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3493517"/>
            <a:ext cx="337873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Model</a:t>
            </a:r>
            <a:endParaRPr sz="18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32B764D1-769C-4822-89FD-EFFBB335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81943" y="3903092"/>
            <a:ext cx="191727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17FCEDCE-2966-4D33-B17A-B1F3ACE0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5743" y="3493517"/>
            <a:ext cx="1993478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f</a:t>
            </a:r>
            <a:endParaRPr sz="18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8C18AEF-5484-48BE-BDD2-7ECF8A62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9221" y="3903092"/>
            <a:ext cx="217430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299E3E76-7127-43CF-B374-0DA995B4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3021" y="3493517"/>
            <a:ext cx="225050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Error vs exp.</a:t>
            </a:r>
            <a:endParaRPr sz="18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9A6E9198-2F32-4C86-A820-0B0095D6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3922142"/>
            <a:ext cx="7371904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0C6E799-AF96-4CA2-8487-1AC4473AA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4493642"/>
            <a:ext cx="328032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DA63D6F-5451-4543-B2A9-C83F183F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872" y="4017392"/>
            <a:ext cx="318823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Standard </a:t>
            </a:r>
            <a:r>
              <a:rPr sz="2100" b="1" i="1">
                <a:solidFill>
                  <a:srgbClr val="1B3A5C"/>
                </a:solidFill>
                <a:latin typeface="Arial"/>
                <a:ea typeface="Arial"/>
                <a:cs typeface="Arial"/>
              </a:rPr>
              <a:t>k</a:t>
            </a:r>
            <a:r>
              <a:rPr sz="21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–</a:t>
            </a:r>
            <a:r>
              <a:rPr sz="2100" b="1" i="1">
                <a:solidFill>
                  <a:srgbClr val="1B3A5C"/>
                </a:solidFill>
                <a:latin typeface="Arial"/>
                <a:ea typeface="Arial"/>
                <a:cs typeface="Arial"/>
              </a:rPr>
              <a:t>ε</a:t>
            </a:r>
            <a:endParaRPr sz="210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DB8B999-4604-4096-B787-7F17653C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81943" y="4493642"/>
            <a:ext cx="191727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9561A18-F708-4442-BF15-D43D357E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5743" y="4017392"/>
            <a:ext cx="1993478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0.018984</a:t>
            </a:r>
            <a:endParaRPr sz="2100"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5FC5AA1-F208-4F98-B54A-9AA70636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9221" y="4493642"/>
            <a:ext cx="217430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ECFDD65-F1D5-4859-A1D4-FB4CAB96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18271" y="4017392"/>
            <a:ext cx="2060004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0.082%</a:t>
            </a:r>
            <a:endParaRPr sz="2100"/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90AC6F9-6468-4AFB-8B69-02EA458C5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5069904"/>
            <a:ext cx="328032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6DBBAC4-C4CF-440B-8BC6-1B5ACEE3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872" y="4598417"/>
            <a:ext cx="3188230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RNG 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k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–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ε</a:t>
            </a:r>
            <a:endParaRPr sz="2100"/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A9669207-A08C-4D96-BDF5-38DFBF4E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81943" y="5069904"/>
            <a:ext cx="191727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3B5B761-7D2E-4303-89B0-21FABA92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5743" y="4598417"/>
            <a:ext cx="1993478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0.018403</a:t>
            </a:r>
            <a:endParaRPr sz="2100"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0E6D4DE4-0F75-48C6-BAF4-AFC63894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9221" y="5069904"/>
            <a:ext cx="217430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97785C30-7196-4A28-AC9C-E0A11C55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18271" y="4598417"/>
            <a:ext cx="2060004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3.14%</a:t>
            </a:r>
            <a:endParaRPr sz="2100"/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317BEA9A-8FAC-4824-B0BE-6D48BE71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5646167"/>
            <a:ext cx="328032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661D481-9F96-4DDF-B313-763F4B15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872" y="5174679"/>
            <a:ext cx="3188230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Realisable 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k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–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ε</a:t>
            </a:r>
            <a:endParaRPr sz="2100"/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63A8310-BC4C-45A5-ACAA-216F8612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81943" y="5646167"/>
            <a:ext cx="191727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BEDDCCE-AD87-4298-A5ED-225F2617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5743" y="5174679"/>
            <a:ext cx="1993478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0.017853</a:t>
            </a:r>
            <a:endParaRPr sz="210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6237FFC-3BE1-4A1D-B301-524D5FA1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9221" y="5646167"/>
            <a:ext cx="217430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AC7FFC41-1F90-4C7D-8D50-EFE150D4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18271" y="5174679"/>
            <a:ext cx="2060004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6.04%</a:t>
            </a:r>
            <a:endParaRPr sz="2100"/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E30C61C9-AE94-4F1E-8A51-B4AF0DCF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6222429"/>
            <a:ext cx="328032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8D65EC64-6812-453E-BBBC-B8C86E66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872" y="5750942"/>
            <a:ext cx="3188230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Low-Re 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k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–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ε</a:t>
            </a:r>
            <a:endParaRPr sz="2100"/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62ABEDC5-1625-45C7-AFCE-CBAB4D9E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81943" y="6222429"/>
            <a:ext cx="191727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96935F7F-74C6-4214-96C2-BEFC5DB2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5743" y="5750942"/>
            <a:ext cx="1993478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0.021688</a:t>
            </a:r>
            <a:endParaRPr sz="2100"/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DFF3B228-2FAB-4F73-B3F9-692FDBEE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9221" y="6222429"/>
            <a:ext cx="217430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CBF69C02-C3C6-43CE-98CC-5172BBD9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18271" y="5750942"/>
            <a:ext cx="2060004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14.15%</a:t>
            </a:r>
            <a:endParaRPr sz="2100"/>
          </a:p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AD6DED6F-A2E2-4982-9926-E241B557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622" y="6484367"/>
            <a:ext cx="8109094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INTERPRETATION</a:t>
            </a:r>
            <a:endParaRPr sz="1800"/>
          </a:p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EA610F25-2D83-437F-920C-7C9EB7304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49" y="6836410"/>
            <a:ext cx="7593330" cy="1168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The low-Re closure overpredicts wall friction on this grid. Its sensitivity to near-wall resolution requires a dedicated refinement study.</a:t>
            </a:r>
            <a:endParaRPr sz="2025"/>
          </a:p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32709BA5-A030-4BFE-94DB-CA1470F2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49" y="8254999"/>
            <a:ext cx="7593330" cy="1181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537"/>
              </a:lnSpc>
              <a:buNone/>
            </a:pPr>
            <a:r>
              <a:rPr sz="2175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Standard k–ε gives the smallest friction and profile errors for the grids and wall treatments tested.</a:t>
            </a:r>
            <a:endParaRPr sz="2175"/>
          </a:p>
        </p:txBody>
      </p:sp>
    </p:spTree>
    <p:extLst>
      <p:ext uri="{BB962C8B-B14F-4D97-AF65-F5344CB8AC3E}">
        <p14:creationId xmlns:p14="http://schemas.microsoft.com/office/powerpoint/2010/main" val="168576699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7A7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8544C6-8575-476D-973F-7AE724AA7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1760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spc="21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PART II</a:t>
            </a:r>
            <a:endParaRPr sz="2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7356DCA-4DB9-411E-A56C-693586EA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04741"/>
            <a:ext cx="15716250" cy="1181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6957"/>
              </a:lnSpc>
              <a:buNone/>
            </a:pPr>
            <a:r>
              <a:rPr sz="9000" b="1" spc="-180">
                <a:solidFill>
                  <a:srgbClr val="FFFFFF"/>
                </a:solidFill>
                <a:latin typeface="Arial"/>
                <a:ea typeface="Arial"/>
                <a:cs typeface="Arial"/>
              </a:rPr>
              <a:t>Cylinder wake experiment</a:t>
            </a:r>
            <a:endParaRPr sz="9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A3C651-278D-402E-AC4D-29C2DDCE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52541"/>
            <a:ext cx="14716125" cy="10153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931"/>
              </a:lnSpc>
              <a:buNone/>
            </a:pPr>
            <a:r>
              <a:rPr sz="2850">
                <a:solidFill>
                  <a:srgbClr val="FFFFFF"/>
                </a:solidFill>
                <a:latin typeface="Arial"/>
                <a:ea typeface="Arial"/>
                <a:cs typeface="Arial"/>
              </a:rPr>
              <a:t>Calibration of the measurement chain, then the wake through its velocity field, its forces and their uncertainty.</a:t>
            </a:r>
            <a:endParaRPr sz="28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D5A2BD5-3FAE-495A-B940-A1205C740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977188"/>
            <a:ext cx="160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A5D66AA-79E9-411A-9BFF-D0FE1ACB5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262938"/>
            <a:ext cx="3432527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18 Experimental setup</a:t>
            </a:r>
            <a:endParaRPr sz="19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ADEF2CC-4C66-4DC4-B716-0731DA8B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679" y="8262938"/>
            <a:ext cx="3922841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19 Load-cell calibration</a:t>
            </a:r>
            <a:endParaRPr sz="19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94B7182-98E4-44B7-A618-BB0B31BB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4099" y="8262938"/>
            <a:ext cx="3922841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20 Calibration stability</a:t>
            </a:r>
            <a:endParaRPr sz="19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15F8697-0401-4FEC-83E2-EB8CDCF1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7518" y="8262938"/>
            <a:ext cx="1961421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21 Mean wake</a:t>
            </a:r>
            <a:endParaRPr sz="19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D329C72-89D2-4FDB-BD58-3B56FE47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734425"/>
            <a:ext cx="2615282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22 Wake recovery</a:t>
            </a:r>
            <a:endParaRPr sz="19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50C8502-099F-4E12-92E4-D3307B8F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729" y="8734425"/>
            <a:ext cx="2778666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23 Probe spectrum</a:t>
            </a:r>
            <a:endParaRPr sz="19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884A7D9-2982-455D-BFFC-41483890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0989" y="8734425"/>
            <a:ext cx="3105596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24 Vorticity phases</a:t>
            </a:r>
            <a:endParaRPr sz="19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0340C06-04B2-446A-ADD6-BB0EF5E1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459" y="8734425"/>
            <a:ext cx="2942131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25 Cylinder forces</a:t>
            </a:r>
            <a:endParaRPr sz="19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54DFE30-A51A-43C4-A4B3-8B1408C02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323" y="8734425"/>
            <a:ext cx="2615282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26 Lift spectrum</a:t>
            </a:r>
            <a:endParaRPr sz="19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201FD84-C96B-4E5D-B0A1-01C5234E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205913"/>
            <a:ext cx="3432527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27 Uncertainty budget</a:t>
            </a:r>
            <a:endParaRPr sz="1950"/>
          </a:p>
        </p:txBody>
      </p:sp>
    </p:spTree>
    <p:extLst>
      <p:ext uri="{BB962C8B-B14F-4D97-AF65-F5344CB8AC3E}">
        <p14:creationId xmlns:p14="http://schemas.microsoft.com/office/powerpoint/2010/main" val="108150758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B61E4ED-0470-457C-B6B0-2A50B588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A7671F4-BE62-4A1F-B833-13BB9BC1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5144944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II · CYLINDER WAKE · EXPERIMENT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C7FCB73-8B39-4582-9499-B08AC0A6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18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D304C43-C7C3-41B2-9FFB-1C5992E7F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Experimental setup</a:t>
            </a:r>
            <a:endParaRPr sz="42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76B29B3-91F4-4AF2-A3FA-F956627A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5116"/>
            <a:ext cx="8340090" cy="39737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Circular cylinder,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D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= 0.06 m, in a 0.50 m wide open channel.</a:t>
            </a:r>
            <a:endParaRPr sz="2025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1A180F9F-2492-4E4D-B663-136E8C1C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1612"/>
            <a:ext cx="273188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72646FA-0F51-4F7D-9075-B7F78FFD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2037"/>
            <a:ext cx="281384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Quantity</a:t>
            </a:r>
            <a:endParaRPr sz="18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CF386FB-9B0D-4691-8008-10019657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289" y="3611612"/>
            <a:ext cx="263827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ABC921D-6536-4B78-9791-C5ADC874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41" y="3202037"/>
            <a:ext cx="271742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PSV</a:t>
            </a:r>
            <a:endParaRPr sz="1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B63BC2E-D3CD-471D-99B7-9763C6C0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4565" y="3611612"/>
            <a:ext cx="221173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5E1A556-85B9-496B-8912-E8F1C139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365" y="3202037"/>
            <a:ext cx="2287935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Forces</a:t>
            </a:r>
            <a:endParaRPr sz="18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4E4E8401-12C2-4BA4-B0C7-A6436EC2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02162"/>
            <a:ext cx="273188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AF9F8E3-C890-41B1-8265-34F397E17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25912"/>
            <a:ext cx="2623346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Flow rate</a:t>
            </a:r>
            <a:endParaRPr sz="21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55B2E680-9070-4299-95EB-5DDB7075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289" y="4202162"/>
            <a:ext cx="263827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EBCBCE8-8B7C-4FAD-AD77-87B4ED56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41" y="3725912"/>
            <a:ext cx="2717424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35 L/s</a:t>
            </a:r>
            <a:endParaRPr sz="21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2522A403-064C-4C2C-B11B-A6923871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4565" y="4202162"/>
            <a:ext cx="221173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4F2CC60-ECF2-46F7-8F63-E8E90EDA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615" y="3725912"/>
            <a:ext cx="2097435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75 L/s</a:t>
            </a:r>
            <a:endParaRPr sz="21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C89D4E97-5AF9-4DC2-9396-10AD36D0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78425"/>
            <a:ext cx="273188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1FCD1B8-C738-4979-9650-F6C5564FB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06937"/>
            <a:ext cx="2623346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Water depth</a:t>
            </a:r>
            <a:endParaRPr sz="21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3FAFAD4-B48B-4188-A89E-E187CBD7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289" y="4778425"/>
            <a:ext cx="263827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133981E-679F-42BF-9463-E37C655C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41" y="4306937"/>
            <a:ext cx="2717424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0.42 m</a:t>
            </a:r>
            <a:endParaRPr sz="2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674D7B8-7B29-4B0D-B2EF-D5C564AB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4565" y="4778425"/>
            <a:ext cx="221173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F57E5EEA-5D10-4242-AC30-6EC1FD474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615" y="4306937"/>
            <a:ext cx="2097435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0.45 m</a:t>
            </a:r>
            <a:endParaRPr sz="21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06E2D225-8A2E-4E04-BDF1-6EDE5E9E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87950"/>
            <a:ext cx="7581900" cy="6200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7B1BA43F-809F-4F87-B016-82DA8923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98443"/>
            <a:ext cx="273188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1BD9753-2AD2-4B7E-B288-F244D0CE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83200"/>
            <a:ext cx="2623346" cy="4580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Bulk velocity </a:t>
            </a:r>
            <a:r>
              <a:rPr sz="2100" b="1" i="1">
                <a:solidFill>
                  <a:srgbClr val="1B3A5C"/>
                </a:solidFill>
                <a:latin typeface="Arial"/>
                <a:ea typeface="Arial"/>
                <a:cs typeface="Arial"/>
              </a:rPr>
              <a:t>U</a:t>
            </a:r>
            <a:r>
              <a:rPr sz="175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b</a:t>
            </a:r>
            <a:endParaRPr sz="2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DCAF7901-D93D-4AC2-878D-C83A9755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289" y="5398443"/>
            <a:ext cx="263827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F05362E1-530A-433A-811C-D8778D56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41" y="4883200"/>
            <a:ext cx="2717424" cy="4580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0.1667 m/s</a:t>
            </a:r>
            <a:endParaRPr sz="21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04B751FB-AE7B-4974-AE33-90C363EE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4565" y="5398443"/>
            <a:ext cx="221173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38012108-D138-432F-A9FD-323B4A945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615" y="4883200"/>
            <a:ext cx="2097435" cy="4580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0.3333 m/s</a:t>
            </a:r>
            <a:endParaRPr sz="21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18127B0-D61E-4501-9B6E-66B68225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74705"/>
            <a:ext cx="273188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4B3E2A1-5A7F-4146-A2CE-DC47A04F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503218"/>
            <a:ext cx="2623346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Sampling rate</a:t>
            </a:r>
            <a:endParaRPr sz="21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DED60F8B-1880-48F2-96CC-ACC80F53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289" y="5974705"/>
            <a:ext cx="263827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8EE40552-4AB7-4E93-914E-A4C1A5D6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41" y="5503218"/>
            <a:ext cx="2717424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50 Hz</a:t>
            </a:r>
            <a:endParaRPr sz="21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36A5817A-302E-4C00-957D-681C89CB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4565" y="5974705"/>
            <a:ext cx="221173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C4AD5035-D2C2-4595-93BD-C5C13739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615" y="5503218"/>
            <a:ext cx="2097435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200 Hz</a:t>
            </a:r>
            <a:endParaRPr sz="210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E7721D14-90D4-4317-A7D2-270465D1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50968"/>
            <a:ext cx="273188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D99DFF40-64FE-4544-9DE6-14C04EAE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079480"/>
            <a:ext cx="2623346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Data</a:t>
            </a:r>
            <a:endParaRPr sz="210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8E07368B-A5C1-41FA-99B8-7B78348D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289" y="6550968"/>
            <a:ext cx="263827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EF3AA34F-015A-4FC3-805F-78D67CE9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41" y="6079480"/>
            <a:ext cx="2717424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1499 fields, 23×30</a:t>
            </a:r>
            <a:endParaRPr sz="210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215339B0-5288-490B-BB33-943FE4CB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4565" y="6550968"/>
            <a:ext cx="221173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B8507E93-64AF-43B7-A342-0E2BEB0B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615" y="6079480"/>
            <a:ext cx="2097435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span 0.185 m</a:t>
            </a:r>
            <a:endParaRPr sz="2100"/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706E574C-3C40-49DC-B1A7-339272CE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12905"/>
            <a:ext cx="834009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PSV</a:t>
            </a:r>
            <a:endParaRPr sz="180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9EEE4AAE-C026-402A-8D8A-D9B2A530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165330"/>
            <a:ext cx="7809357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Particle-shadow velocimetry: pixel displacements converted at 3040 px/m, local velocity field in the cylinder frame.</a:t>
            </a:r>
            <a:endParaRPr sz="2025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F0BBB24F-66E3-4C85-8E61-F991D0AA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12472"/>
            <a:ext cx="834009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FORCES</a:t>
            </a:r>
            <a:endParaRPr sz="180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C3663412-0DB8-4091-B6FB-187ECF41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464897"/>
            <a:ext cx="7809357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Calibrated load cell: span-integrated drag and lift, buoyancy removed with a still-water record.</a:t>
            </a:r>
            <a:endParaRPr sz="2025"/>
          </a:p>
        </p:txBody>
      </p:sp>
      <p:pic>
        <p:nvPicPr>
          <p:cNvPr id="9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a1b9504cc44b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82100" y="3403253"/>
            <a:ext cx="8191500" cy="4953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12419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905AAEB-0837-4988-BE06-6A2544AD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C167C8B-0005-4951-977E-545DCF660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5144944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II · CYLINDER WAKE · EXPERIMENT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CFDA0C6-5114-4E61-B46E-46C67D14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19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81819BD-70EE-435F-B3A1-033880E3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Load cell: linear transfer function over −10.5 to 13.8 N</a:t>
            </a:r>
            <a:endParaRPr sz="4200"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cc579680d6461a"/>
          <a:srcRect xmlns:a="http://schemas.openxmlformats.org/drawingml/2006/main" l="-8779" t="0" r="-8779" b="0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8001000" cy="497346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b0a51e8bd442b7"/>
          <a:srcRect xmlns:a="http://schemas.openxmlformats.org/drawingml/2006/main" l="-1009" t="0" r="-1009" b="0"/>
          <a:stretch xmlns:a="http://schemas.openxmlformats.org/drawingml/2006/main"/>
        </p:blipFill>
        <p:spPr>
          <a:xfrm xmlns:a="http://schemas.openxmlformats.org/drawingml/2006/main">
            <a:off x="9372600" y="1891605"/>
            <a:ext cx="8001000" cy="4973464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610D1EB6-8FBD-4661-B603-E9A1D8D5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112719"/>
            <a:ext cx="16459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638CBCF-8457-4C08-B98E-BAF76AD8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312744"/>
            <a:ext cx="4243388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Sensitivity </a:t>
            </a: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S</a:t>
            </a:r>
            <a:endParaRPr sz="18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8DB5AC9C-6652-43B1-B402-E68C466E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674694"/>
            <a:ext cx="4243388" cy="531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652"/>
              </a:lnSpc>
              <a:buNone/>
            </a:pPr>
            <a:r>
              <a:rPr sz="30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−4.078·10</a:t>
            </a:r>
            <a:r>
              <a:rPr sz="25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−4 </a:t>
            </a:r>
            <a:r>
              <a:rPr sz="1950">
                <a:solidFill>
                  <a:srgbClr val="1B3A5C"/>
                </a:solidFill>
                <a:latin typeface="Arial"/>
                <a:ea typeface="Arial"/>
                <a:cs typeface="Arial"/>
              </a:rPr>
              <a:t>V/N</a:t>
            </a:r>
            <a:endParaRPr sz="3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8B9959A-7308-45F7-A66D-C6E6E6266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7312744"/>
            <a:ext cx="3973354" cy="40481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R</a:t>
            </a:r>
            <a:r>
              <a:rPr sz="1500">
                <a:solidFill>
                  <a:srgbClr val="5B6470"/>
                </a:solidFill>
                <a:latin typeface="Arial"/>
                <a:ea typeface="Arial"/>
                <a:cs typeface="Arial"/>
              </a:rPr>
              <a:t>2</a:t>
            </a:r>
            <a:endParaRPr sz="18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6D4AB4E-423F-47CE-8F22-1EA2BD8A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7717557"/>
            <a:ext cx="424338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652"/>
              </a:lnSpc>
              <a:buNone/>
            </a:pPr>
            <a:r>
              <a:rPr sz="30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0.9999988</a:t>
            </a:r>
            <a:endParaRPr sz="30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DA0C1D96-A0E4-417C-90C6-D1C8EE7A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7312744"/>
            <a:ext cx="4243388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Force RMSE</a:t>
            </a:r>
            <a:endParaRPr sz="18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277F9350-19A9-4552-B888-62CDD1F5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7674694"/>
            <a:ext cx="424338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652"/>
              </a:lnSpc>
              <a:buNone/>
            </a:pPr>
            <a:r>
              <a:rPr sz="30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0.00572 </a:t>
            </a:r>
            <a:r>
              <a:rPr sz="1950">
                <a:solidFill>
                  <a:srgbClr val="0B7A75"/>
                </a:solidFill>
                <a:latin typeface="Arial"/>
                <a:ea typeface="Arial"/>
                <a:cs typeface="Arial"/>
              </a:rPr>
              <a:t>N</a:t>
            </a:r>
            <a:endParaRPr sz="30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149E080-29D2-4087-AEBA-9F2A4CC3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15975" y="7312744"/>
            <a:ext cx="4243388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Max residual</a:t>
            </a:r>
            <a:endParaRPr sz="18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851E6780-69E6-4FE9-A1C7-78F83321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15975" y="7674694"/>
            <a:ext cx="424338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652"/>
              </a:lnSpc>
              <a:buNone/>
            </a:pPr>
            <a:r>
              <a:rPr sz="30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0.01398 </a:t>
            </a:r>
            <a:r>
              <a:rPr sz="1950">
                <a:solidFill>
                  <a:srgbClr val="0B7A75"/>
                </a:solidFill>
                <a:latin typeface="Arial"/>
                <a:ea typeface="Arial"/>
                <a:cs typeface="Arial"/>
              </a:rPr>
              <a:t>N</a:t>
            </a:r>
            <a:endParaRPr sz="30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D0989074-A49C-4F84-BF24-E290BBCC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416007"/>
            <a:ext cx="569976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METHOD</a:t>
            </a:r>
            <a:endParaRPr sz="18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2DE15D64-4B92-4368-B904-F1E46D75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768080"/>
            <a:ext cx="4953000" cy="127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1950">
                <a:solidFill>
                  <a:srgbClr val="1A1D21"/>
                </a:solidFill>
                <a:latin typeface="Arial"/>
                <a:ea typeface="Arial"/>
                <a:cs typeface="Arial"/>
              </a:rPr>
              <a:t>Sixteen static loads at 100 Hz. Fit V = SF + V₀ using the last 30% of each record.</a:t>
            </a:r>
            <a:endParaRPr sz="195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B19E15D5-734F-466F-A02F-AA80607C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8416007"/>
            <a:ext cx="569976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95275DED-5205-49B8-8133-E78BCAB3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1000" y="8768080"/>
            <a:ext cx="5080000" cy="127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1950">
                <a:solidFill>
                  <a:srgbClr val="1A1D21"/>
                </a:solidFill>
                <a:latin typeface="Arial"/>
                <a:ea typeface="Arial"/>
                <a:cs typeface="Arial"/>
              </a:rPr>
              <a:t>No sign-dependent slope or visible curvature. Largest residual near −0.41 N. Leave-one-out refits change sensitivity by less than 0.04%.</a:t>
            </a:r>
            <a:endParaRPr sz="195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FF1DA2EF-F24B-423B-93B4-3CE04AA00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416007"/>
            <a:ext cx="569976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IMPLICATION</a:t>
            </a:r>
            <a:endParaRPr sz="18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1E04D4A-FB79-41D0-A2BF-3DF03EE3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768080"/>
            <a:ext cx="5336540" cy="127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Small relative to mean drag (0.92 N), but comparable to mean lift (−0.017 N).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107222633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73A2896-3796-4851-9648-66638A4CB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16637BA-B79D-496A-82E2-A466F4D4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5144944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II · CYLINDER WAKE · EXPERIMENT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578DA34-D780-4870-8350-7248BB9A5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20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16ABB57-BF77-4966-A332-BA51C881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Small loads need long records to settle</a:t>
            </a:r>
            <a:endParaRPr sz="4200"/>
          </a:p>
        </p:txBody>
      </p:sp>
      <p:pic>
        <p:nvPicPr>
          <p:cNvPr id="3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17cf9277d74b2d"/>
          <a:srcRect xmlns:a="http://schemas.openxmlformats.org/drawingml/2006/main" l="0" t="-15794" r="0" b="-15794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9105081" cy="7976295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FC447D5-B515-4368-A17B-822C7F7B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3021806"/>
            <a:ext cx="741897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CRITERION</a:t>
            </a:r>
            <a:endParaRPr sz="18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E058788-2082-4F5C-8773-8C1C6629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3374231"/>
            <a:ext cx="7418970" cy="38784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Cumulative mean within a 2% band of the final level.</a:t>
            </a:r>
            <a:endParaRPr sz="2025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3A984CB8-6312-4897-9DF8-6C645BFE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4381202"/>
            <a:ext cx="338807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C4B40B-AE1B-4D34-B71F-5628DE61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3971627"/>
            <a:ext cx="348971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Reference load</a:t>
            </a:r>
            <a:endParaRPr sz="18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E57BEEE-5ADB-4ACD-B1C4-844905A19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7154" y="4381202"/>
            <a:ext cx="335644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EE58D8A-ED62-4DAA-9A30-39BD80845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6460" y="3971627"/>
            <a:ext cx="345714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Settling time</a:t>
            </a:r>
            <a:endParaRPr sz="18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FBB19E6-7E30-4AB4-8112-E9BEB053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4400252"/>
            <a:ext cx="6744519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6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2218A44-8080-46C1-9CC8-878EDD45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4971752"/>
            <a:ext cx="338807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4B0262F4-4F2F-44E9-84D8-F337DA8A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4331" y="4495502"/>
            <a:ext cx="3299214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 N</a:t>
            </a:r>
            <a:endParaRPr sz="21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CE470AD3-ABC7-4BE3-9447-424D8F3C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7154" y="4971752"/>
            <a:ext cx="335644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CDF26EF-2AD1-4068-8BDC-28598073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1710" y="4495502"/>
            <a:ext cx="326664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25.99 s</a:t>
            </a:r>
            <a:endParaRPr sz="21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51640F59-072A-4636-87F0-F9A0BFF7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5548015"/>
            <a:ext cx="338807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2DFB6B77-0ED4-43C6-99D1-16058A6B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4331" y="5076527"/>
            <a:ext cx="3299214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|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F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| ≤ 0.41 N</a:t>
            </a:r>
            <a:endParaRPr sz="21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724D1EC6-B64A-489E-B65E-1193043F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7154" y="5548015"/>
            <a:ext cx="335644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9015AC6A-91CC-420D-BB2F-965F4A56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1710" y="5076527"/>
            <a:ext cx="3266640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11.9–21.0 s</a:t>
            </a:r>
            <a:endParaRPr sz="210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F2B407A0-8134-45D1-997B-39BC4EF87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6124277"/>
            <a:ext cx="338807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46594925-49E1-4524-B43E-FAD8D3CD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4331" y="5652790"/>
            <a:ext cx="3299214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|</a:t>
            </a:r>
            <a:r>
              <a:rPr sz="21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F</a:t>
            </a: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| ≥ 0.70 N</a:t>
            </a:r>
            <a:endParaRPr sz="21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F7B68D8A-C980-47EE-B561-DB1B80D0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7154" y="6124277"/>
            <a:ext cx="335644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0EA074BD-14AD-49EB-A659-DE7373EF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1710" y="5652790"/>
            <a:ext cx="3266640" cy="414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100">
                <a:solidFill>
                  <a:srgbClr val="1A1D21"/>
                </a:solidFill>
                <a:latin typeface="Arial"/>
                <a:ea typeface="Arial"/>
                <a:cs typeface="Arial"/>
              </a:rPr>
              <a:t>≤ 0.49 s</a:t>
            </a:r>
            <a:endParaRPr sz="21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7448BEE5-A7EF-4367-8B93-E3E831F6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6386215"/>
            <a:ext cx="741897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87B101C-DF9B-40F4-AFD4-558C341D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6738640"/>
            <a:ext cx="6946854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High loads settle almost immediately; near zero, drift and noise are comparable with the signal.</a:t>
            </a:r>
            <a:endParaRPr sz="2025"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A63B6226-4745-43E7-862C-1D7C928A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7685782"/>
            <a:ext cx="741897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IMPLICATION</a:t>
            </a:r>
            <a:endParaRPr sz="18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988E67-7C23-4E09-B422-38AFE674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8038207"/>
            <a:ext cx="6946854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Justifies the last-30% window and sets the practical limit for interpreting mean lift.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211768637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364FEBC-372F-49C2-B039-263895B4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F2D0D70-C0FC-4B2E-A320-346B8588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5144944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II · CYLINDER WAKE · EXPERIMENT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A49E238-DF0E-45BC-9EC2-A354CA5F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21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818FA13-C607-4BE5-989E-B229CE2D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Mean wake: velocity deficit bounded by separated shear layers</a:t>
            </a:r>
            <a:endParaRPr sz="4200"/>
          </a:p>
        </p:txBody>
      </p:sp>
      <p:pic>
        <p:nvPicPr>
          <p:cNvPr id="2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0d5af173ff4b89"/>
          <a:srcRect xmlns:a="http://schemas.openxmlformats.org/drawingml/2006/main" l="0" t="-9152" r="0" b="-9152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9105081" cy="7976295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87665EC1-DA81-4FC1-A3AC-28A488822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3377357"/>
            <a:ext cx="674451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5DC34131-8BD3-4D40-AC0B-B1F923CDE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3577382"/>
            <a:ext cx="3520849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Reynolds number</a:t>
            </a:r>
            <a:endParaRPr sz="1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ECF8662-655C-4DDD-A545-B7C49E02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3939332"/>
            <a:ext cx="3520849" cy="582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 i="1">
                <a:solidFill>
                  <a:srgbClr val="1B3A5C"/>
                </a:solidFill>
                <a:latin typeface="Arial"/>
                <a:ea typeface="Arial"/>
                <a:cs typeface="Arial"/>
              </a:rPr>
              <a:t>Re</a:t>
            </a:r>
            <a:r>
              <a:rPr sz="275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D </a:t>
            </a:r>
            <a:r>
              <a:rPr sz="33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= 9980</a:t>
            </a:r>
            <a:endParaRPr sz="33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4C9BF67-CE87-4AFE-999D-CFA41F0E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2754" y="3577382"/>
            <a:ext cx="3520931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Bulk velocity</a:t>
            </a:r>
            <a:endParaRPr sz="1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48DEC63-1478-4135-80AB-8CD42BB8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2754" y="3939332"/>
            <a:ext cx="3520931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0.1667 </a:t>
            </a:r>
            <a:r>
              <a:rPr sz="1950">
                <a:solidFill>
                  <a:srgbClr val="1A1D21"/>
                </a:solidFill>
                <a:latin typeface="Arial"/>
                <a:ea typeface="Arial"/>
                <a:cs typeface="Arial"/>
              </a:rPr>
              <a:t>m/s</a:t>
            </a:r>
            <a:endParaRPr sz="33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FEAE04E-D917-4CCF-A860-4710473A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4731097"/>
            <a:ext cx="741897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METHOD</a:t>
            </a:r>
            <a:endParaRPr sz="1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503152F-A775-4A5F-A047-4360CBBC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5083522"/>
            <a:ext cx="6946854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Time average of 1499 PSV fields. Invalid vectors omitted, cylinder interior masked, no spatial interpolation.</a:t>
            </a:r>
            <a:endParaRPr sz="2025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89E8302-4F7C-43D7-BC30-95F46494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6030664"/>
            <a:ext cx="741897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225C6899-9836-4F69-B332-0392DB2B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6383089"/>
            <a:ext cx="6946854" cy="1087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Streamwise velocity drops behind the cylinder and a deficit forms around the centreline. Vectors show transverse motion from the shear layers.</a:t>
            </a:r>
            <a:endParaRPr sz="2025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6E102E3-1F12-4219-BA92-41FD327B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7679978"/>
            <a:ext cx="741897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SCOPE</a:t>
            </a:r>
            <a:endParaRPr sz="18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988167A-40F7-4D91-B2D2-3AC12376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081" y="8032403"/>
            <a:ext cx="7418970" cy="38784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Boundary regions with few valid vectors are not interpreted.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43380164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65896AF-945E-4129-A81D-5EFD0730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092C211-3F63-464D-B947-3E139746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5144944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II · CYLINDER WAKE · EXPERIMENT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C7DFEC3-2261-49D8-91C0-A299D6DB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22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EC6666F-CE0F-4A02-B038-5D6345B0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Streamwise recovery of the mean velocity</a:t>
            </a:r>
            <a:endParaRPr sz="4200"/>
          </a:p>
        </p:txBody>
      </p:sp>
      <p:pic>
        <p:nvPicPr>
          <p:cNvPr id="1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cbfe939445445e"/>
          <a:srcRect xmlns:a="http://schemas.openxmlformats.org/drawingml/2006/main" l="0" t="-16435" r="0" b="-16435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8645203" cy="7976295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C4DB3FA-D4BB-4E5C-A961-6FEBD934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9203" y="3879354"/>
            <a:ext cx="7924837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METHOD</a:t>
            </a:r>
            <a:endParaRPr sz="18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B9CAD2F-3B17-47F2-A624-60041026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9203" y="4231779"/>
            <a:ext cx="7420529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Vertical profiles of mean streamwise velocity at four downstream stations.</a:t>
            </a:r>
            <a:endParaRPr sz="2025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C09E045-5B21-487F-A527-DB7BB8071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9203" y="5178921"/>
            <a:ext cx="7924837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CD7E36B-FC63-4BC2-B61C-00E6CD1D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9203" y="5531346"/>
            <a:ext cx="7420529" cy="1087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The strongest deficit and cross-stream variation occur in the near wake. Profiles smooth out downstream as momentum is redistributed.</a:t>
            </a:r>
            <a:endParaRPr sz="2025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E4E60EE3-6769-4FD6-A88C-4EEAA159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9203" y="6828234"/>
            <a:ext cx="7924837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SCOPE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4C0E93F-CED4-4CE7-93E6-D5D457BE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9203" y="7180659"/>
            <a:ext cx="7420529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The field of view is too short to establish a self-similar far-wake regime.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211471365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5AFE8E1-4EB5-46C1-9F99-FFFDDC76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68CD3E2-F853-465B-AB80-F884D1C9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5144944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II · CYLINDER WAKE · EXPERIMENT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297CF90-48F6-42AB-B806-535F2487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23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6645293-F72C-44E3-B4A8-5F94335A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Velocity spectrum: one dominant frequency, St = 0.204</a:t>
            </a:r>
            <a:endParaRPr sz="4200"/>
          </a:p>
        </p:txBody>
      </p:sp>
      <p:pic>
        <p:nvPicPr>
          <p:cNvPr id="2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1d7233408f4166"/>
          <a:srcRect xmlns:a="http://schemas.openxmlformats.org/drawingml/2006/main" l="0" t="-19298" r="0" b="-19298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8958411" cy="7976295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13D6E2F-7EA5-4D80-8199-C1AC89A8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177034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METHOD</a:t>
            </a:r>
            <a:endParaRPr sz="18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89138E8C-EDDD-497B-B06D-1D2F8F7AB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529459"/>
            <a:ext cx="7097924" cy="10968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 lnSpcReduction="1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Transverse velocity at the valid grid point nearest to</a:t>
            </a:r>
          </a:p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(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x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/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D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,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y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/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D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) = (0.25, 0), i.e. (0.288, −0.057). Gaps interpolated in time; peak searched in 0.2–10 Hz.</a:t>
            </a:r>
            <a:endParaRPr sz="2025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25A20359-0702-42CF-A122-00538553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835872"/>
            <a:ext cx="689118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D842713C-5844-4039-A4B1-48C2836C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5035897"/>
            <a:ext cx="3601559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Dominant frequency</a:t>
            </a:r>
            <a:endParaRPr sz="1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6D53483F-C3E9-454B-A5F0-19A63840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5397847"/>
            <a:ext cx="3601559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0.567 </a:t>
            </a:r>
            <a:r>
              <a:rPr sz="1950">
                <a:solidFill>
                  <a:srgbClr val="0B7A75"/>
                </a:solidFill>
                <a:latin typeface="Arial"/>
                <a:ea typeface="Arial"/>
                <a:cs typeface="Arial"/>
              </a:rPr>
              <a:t>Hz</a:t>
            </a:r>
            <a:endParaRPr sz="33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B9D53971-F363-43BA-8895-E4FA7D05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5035897"/>
            <a:ext cx="3601559" cy="3981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St </a:t>
            </a: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= </a:t>
            </a: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f</a:t>
            </a:r>
            <a:r>
              <a:rPr sz="1500">
                <a:solidFill>
                  <a:srgbClr val="5B6470"/>
                </a:solidFill>
                <a:latin typeface="Arial"/>
                <a:ea typeface="Arial"/>
                <a:cs typeface="Arial"/>
              </a:rPr>
              <a:t>s</a:t>
            </a: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D</a:t>
            </a: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/</a:t>
            </a: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U</a:t>
            </a:r>
            <a:r>
              <a:rPr sz="1500">
                <a:solidFill>
                  <a:srgbClr val="5B6470"/>
                </a:solidFill>
                <a:latin typeface="Arial"/>
                <a:ea typeface="Arial"/>
                <a:cs typeface="Arial"/>
              </a:rPr>
              <a:t>b</a:t>
            </a:r>
            <a:endParaRPr sz="1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2334926-A93C-4DE9-A949-CF7252BC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5434013"/>
            <a:ext cx="3601559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0.204</a:t>
            </a:r>
            <a:endParaRPr sz="3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B9E2E7B-F7CC-49E8-8FC0-1A0E4A53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6142658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1131E9BD-4F7D-4431-A5DA-CE4D3967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6495083"/>
            <a:ext cx="7097924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A single peak well above the broadband level over a 30 s record at 50 Hz.</a:t>
            </a:r>
            <a:endParaRPr sz="2025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AE48494-582F-4B9E-8FB1-9213BA36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7442225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IMPLICATION</a:t>
            </a:r>
            <a:endParaRPr sz="18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BEF179C-E0D1-47B5-906C-57F0B3F9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7794650"/>
            <a:ext cx="7097924" cy="8259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Consistent with periodic shedding behind a circular cylinder at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Re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D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≈ 10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4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121394262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95C1504-55AA-4565-A32E-86DB1EAC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A8C8F5F-87A1-4B62-9AF9-96F07C7F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5144944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II · CYLINDER WAKE · EXPERIMENT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F2A6A31-9461-4657-8157-E044FE92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24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A9FE755-C2BE-4434-BB90-B11FB7FAA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Vorticity phases: alternating vortices convected downstream</a:t>
            </a:r>
            <a:endParaRPr sz="4200"/>
          </a:p>
        </p:txBody>
      </p:sp>
      <p:pic>
        <p:nvPicPr>
          <p:cNvPr id="1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28f34c0c1f4389"/>
          <a:srcRect xmlns:a="http://schemas.openxmlformats.org/drawingml/2006/main" l="-43676" t="0" r="-43676" b="0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16459200" cy="6326981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9E16367-6602-46EB-8D78-B9106E29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466237"/>
            <a:ext cx="569976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METHOD</a:t>
            </a:r>
            <a:endParaRPr sz="18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FAFD417A-39B2-4162-83E9-AFA7E1F2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818662"/>
            <a:ext cx="5337048" cy="1087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Four frames separated by a quarter of the identified period, from a moving-average filtered sequence.</a:t>
            </a:r>
            <a:endParaRPr sz="2025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F6A8EF9-14BD-4A7C-A3E6-43DC6B91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8466237"/>
            <a:ext cx="569976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7C949D8-D7F4-41E9-978F-663EA790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8818662"/>
            <a:ext cx="5337048" cy="1087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Alternating signed structures form behind the cylinder and are convected through the measurement region.</a:t>
            </a:r>
            <a:endParaRPr sz="2025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9C9F428E-6E1C-4D2B-8A76-C58FB8A1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466237"/>
            <a:ext cx="569976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IMPLICATION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BBD8F92C-FFD9-4518-8F21-1FEA15F9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818662"/>
            <a:ext cx="5337048" cy="10873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Spatial counterpart of the spectral peak. Topology only: no ensemble phase average, amplitudes not interpreted.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171723459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B9D07F1-30D8-454E-B39D-C856B460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F3D111A-2F95-4EC9-B5B3-F408FAFB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5144944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II · CYLINDER WAKE · EXPERIMENT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0641282-CCC4-4D0B-ADCB-975EF234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25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8612A73-FD41-47AC-9858-5F8F1EE2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Mean drag coefficient 1.50; mean lift close to zero</a:t>
            </a:r>
            <a:endParaRPr sz="4200"/>
          </a:p>
        </p:txBody>
      </p:sp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9aba9b12f4a61"/>
          <a:srcRect xmlns:a="http://schemas.openxmlformats.org/drawingml/2006/main" l="0" t="-23988" r="0" b="-23988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8958411" cy="7976295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35104D1-4532-4032-AE08-410461CEB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028578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METHOD</a:t>
            </a:r>
            <a:endParaRPr sz="18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D3815F0-7837-480A-9A31-8DE57B41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381003"/>
            <a:ext cx="7097924" cy="8259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C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=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F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/ (½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ρU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b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2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DL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),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L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= 0.185 m. Lift corrected for buoyancy with the still-water record.</a:t>
            </a:r>
            <a:endParaRPr sz="2025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08DC5D00-9717-49B8-8ACA-414454C7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416475"/>
            <a:ext cx="689118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09B204E-099A-4BDC-A7D2-21D7F0D0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616500"/>
            <a:ext cx="3601559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Mean drag</a:t>
            </a:r>
            <a:endParaRPr sz="1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46CEC48D-CA94-4271-8AD6-A6C30F1F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978450"/>
            <a:ext cx="3601559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652"/>
              </a:lnSpc>
              <a:buNone/>
            </a:pPr>
            <a:r>
              <a:rPr sz="30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0.9223 </a:t>
            </a:r>
            <a:r>
              <a:rPr sz="1950">
                <a:solidFill>
                  <a:srgbClr val="1A1D21"/>
                </a:solidFill>
                <a:latin typeface="Arial"/>
                <a:ea typeface="Arial"/>
                <a:cs typeface="Arial"/>
              </a:rPr>
              <a:t>N</a:t>
            </a:r>
            <a:endParaRPr sz="30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BAD64F6-752F-4B5B-83A5-9B3259DB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4616500"/>
            <a:ext cx="3601559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Mean lift</a:t>
            </a:r>
            <a:endParaRPr sz="1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D344121-DBE2-43D6-ABAF-E4402A27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4978450"/>
            <a:ext cx="3601559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652"/>
              </a:lnSpc>
              <a:buNone/>
            </a:pPr>
            <a:r>
              <a:rPr sz="30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−0.0172 </a:t>
            </a:r>
            <a:r>
              <a:rPr sz="1950">
                <a:solidFill>
                  <a:srgbClr val="1A1D21"/>
                </a:solidFill>
                <a:latin typeface="Arial"/>
                <a:ea typeface="Arial"/>
                <a:cs typeface="Arial"/>
              </a:rPr>
              <a:t>N</a:t>
            </a:r>
            <a:endParaRPr sz="30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A87ECBE-F4C7-4B92-9145-14D66AEB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5664250"/>
            <a:ext cx="3601559" cy="3981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C̅</a:t>
            </a:r>
            <a:r>
              <a:rPr sz="1500">
                <a:solidFill>
                  <a:srgbClr val="5B6470"/>
                </a:solidFill>
                <a:latin typeface="Arial"/>
                <a:ea typeface="Arial"/>
                <a:cs typeface="Arial"/>
              </a:rPr>
              <a:t>D</a:t>
            </a:r>
            <a:endParaRPr sz="1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98D7E887-06B0-458F-ABF0-CE87353E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6062365"/>
            <a:ext cx="3601559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652"/>
              </a:lnSpc>
              <a:buNone/>
            </a:pPr>
            <a:r>
              <a:rPr sz="30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1.4987</a:t>
            </a:r>
            <a:endParaRPr sz="30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BBC6B05D-D47D-45A0-BBF7-AE5F81CE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5664250"/>
            <a:ext cx="3601559" cy="3981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C̅</a:t>
            </a:r>
            <a:r>
              <a:rPr sz="1500">
                <a:solidFill>
                  <a:srgbClr val="5B6470"/>
                </a:solidFill>
                <a:latin typeface="Arial"/>
                <a:ea typeface="Arial"/>
                <a:cs typeface="Arial"/>
              </a:rPr>
              <a:t>L</a:t>
            </a:r>
            <a:endParaRPr sz="18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93196635-7A83-4DF4-912B-652C5849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6062365"/>
            <a:ext cx="3601559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652"/>
              </a:lnSpc>
              <a:buNone/>
            </a:pPr>
            <a:r>
              <a:rPr sz="30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−0.0280</a:t>
            </a:r>
            <a:endParaRPr sz="30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B782406-8296-4157-8A75-469DF74F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6729115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E7E055F-EE8C-47B4-86D3-C83B8E8C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7081540"/>
            <a:ext cx="7580308" cy="38784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Drag fluctuates about a positive mean; lift oscillates about zero.</a:t>
            </a:r>
            <a:endParaRPr sz="2025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F6821149-2A2B-45D8-9D34-160CE4DF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7678936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IMPLICATION</a:t>
            </a:r>
            <a:endParaRPr sz="18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EDDD866D-0FAF-4DE5-981A-B4AE337F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8031361"/>
            <a:ext cx="7097924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A non-zero mean lift alone is not evidence of physical asymmetry.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107664841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B30CEF7-CE32-427C-AF5D-248013F0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6192A38-FA07-45B8-A66D-A1D1878C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5144944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II · CYLINDER WAKE · EXPERIMENT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4BD671E-DA78-414D-B653-43F2A06A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26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814A8EA-7CFB-48A4-96E2-4C7694BE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Lift spectrum: shedding at St = 0.181</a:t>
            </a:r>
            <a:endParaRPr sz="4200"/>
          </a:p>
        </p:txBody>
      </p:sp>
      <p:pic>
        <p:nvPicPr>
          <p:cNvPr id="2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d6bcbc034a45c7"/>
          <a:srcRect xmlns:a="http://schemas.openxmlformats.org/drawingml/2006/main" l="0" t="-18316" r="0" b="-18316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8958411" cy="7976295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C698D3A-67D9-4985-88AF-7390AD3B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393802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METHOD</a:t>
            </a:r>
            <a:endParaRPr sz="18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8B62A6A-1E78-4DD0-864B-2D6FAD8A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3746227"/>
            <a:ext cx="7097924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One-sided amplitude spectrum of the corrected lift after mean removal, 200 Hz.</a:t>
            </a:r>
            <a:endParaRPr sz="2025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A0F8645-C147-4B32-A740-A7C49EA50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4693369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WHY LIFT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A9D2786-ED47-4B9B-87B7-E0E0E1E6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5045794"/>
            <a:ext cx="7097924" cy="7878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Alternating shedding forces the cylinder cross-stream at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f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s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; drag responds mainly at the mean and at even harmonics.</a:t>
            </a:r>
            <a:endParaRPr sz="2025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C7ACE80-29B2-4AD7-AA36-4068753B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6043166"/>
            <a:ext cx="689118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C7857E1-4F42-4942-89A7-35EA3C5C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6243191"/>
            <a:ext cx="3601559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Shedding frequency</a:t>
            </a:r>
            <a:endParaRPr sz="1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FBECDCF-25DE-49A3-9744-51221128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6605141"/>
            <a:ext cx="3601559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1.006 </a:t>
            </a:r>
            <a:r>
              <a:rPr sz="1950">
                <a:solidFill>
                  <a:srgbClr val="0B7A75"/>
                </a:solidFill>
                <a:latin typeface="Arial"/>
                <a:ea typeface="Arial"/>
                <a:cs typeface="Arial"/>
              </a:rPr>
              <a:t>Hz</a:t>
            </a:r>
            <a:endParaRPr sz="3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2A01BA99-09D8-4AB7-BE66-9D9DDC01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6243191"/>
            <a:ext cx="3601559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St</a:t>
            </a:r>
            <a:endParaRPr sz="1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D8DFFC48-41E4-48C0-8C01-54A4A3EE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9456" y="6605141"/>
            <a:ext cx="3601559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0.181</a:t>
            </a:r>
            <a:endParaRPr sz="33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885702A-9E03-4FA3-B9AA-16726112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7313786"/>
            <a:ext cx="758030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IMPLICATION</a:t>
            </a:r>
            <a:endParaRPr sz="18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B9D30C3-5CBC-4B76-B02A-D7E1A8B9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2411" y="7666211"/>
            <a:ext cx="7097924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The narrow peak indicates a coherent periodic component, measured independently of the velocity field.</a:t>
            </a:r>
            <a:endParaRPr sz="2025"/>
          </a:p>
        </p:txBody>
      </p:sp>
    </p:spTree>
    <p:extLst>
      <p:ext uri="{BB962C8B-B14F-4D97-AF65-F5344CB8AC3E}">
        <p14:creationId xmlns:p14="http://schemas.microsoft.com/office/powerpoint/2010/main" val="35063869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E4BE738-0A04-44E7-B82A-07CB4F2F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8B51F91-66B3-4CCF-AF01-FC831785A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5144944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II · CYLINDER WAKE · EXPERIMENT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2B3D463-BFDB-495B-9501-95D1F62BA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27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F629A8A-8673-4647-995C-DB7B6870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Force measurement dominates the uncertainty budget</a:t>
            </a:r>
            <a:endParaRPr sz="4200"/>
          </a:p>
        </p:txBody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a74f427ea74310"/>
          <a:srcRect xmlns:a="http://schemas.openxmlformats.org/drawingml/2006/main" l="0" t="-27287" r="0" b="-27287"/>
          <a:stretch xmlns:a="http://schemas.openxmlformats.org/drawingml/2006/main"/>
        </p:blipFill>
        <p:spPr>
          <a:xfrm xmlns:a="http://schemas.openxmlformats.org/drawingml/2006/main">
            <a:off x="914400" y="1891605"/>
            <a:ext cx="8805267" cy="7976295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39E7DCF-8517-4C92-B322-753452F41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267" y="2960787"/>
            <a:ext cx="7748766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METHOD</a:t>
            </a:r>
            <a:endParaRPr sz="18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A5CAD21E-7518-4385-A8FF-68646D59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267" y="3313212"/>
            <a:ext cx="7255663" cy="737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First-order propagation, root sum of squares of independent contributions (assumptions in appendix A2).</a:t>
            </a:r>
            <a:endParaRPr sz="2025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5F32A1FE-0D45-4BF1-A26D-CEE32329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267" y="4260354"/>
            <a:ext cx="704433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3B96DB-D5CF-480F-96EB-4054F9D9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267" y="4460379"/>
            <a:ext cx="3685788" cy="3981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u</a:t>
            </a: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(</a:t>
            </a: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C</a:t>
            </a:r>
            <a:r>
              <a:rPr sz="1500">
                <a:solidFill>
                  <a:srgbClr val="5B6470"/>
                </a:solidFill>
                <a:latin typeface="Arial"/>
                <a:ea typeface="Arial"/>
                <a:cs typeface="Arial"/>
              </a:rPr>
              <a:t>D</a:t>
            </a: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)</a:t>
            </a:r>
            <a:endParaRPr sz="1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CBA9BF-B1C4-4EC1-8379-2CC6A7F4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267" y="4858494"/>
            <a:ext cx="3685788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0.0756 </a:t>
            </a:r>
            <a:r>
              <a:rPr sz="1950">
                <a:solidFill>
                  <a:srgbClr val="1B3A5C"/>
                </a:solidFill>
                <a:latin typeface="Arial"/>
                <a:ea typeface="Arial"/>
                <a:cs typeface="Arial"/>
              </a:rPr>
              <a:t>· 5.0%</a:t>
            </a:r>
            <a:endParaRPr sz="33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7F57F32-94AE-4E38-BED0-E4D7A74C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2884" y="4460379"/>
            <a:ext cx="3685788" cy="39811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u</a:t>
            </a: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(</a:t>
            </a:r>
            <a:r>
              <a:rPr sz="1800" i="1">
                <a:solidFill>
                  <a:srgbClr val="5B6470"/>
                </a:solidFill>
                <a:latin typeface="Arial"/>
                <a:ea typeface="Arial"/>
                <a:cs typeface="Arial"/>
              </a:rPr>
              <a:t>C</a:t>
            </a:r>
            <a:r>
              <a:rPr sz="1500">
                <a:solidFill>
                  <a:srgbClr val="5B6470"/>
                </a:solidFill>
                <a:latin typeface="Arial"/>
                <a:ea typeface="Arial"/>
                <a:cs typeface="Arial"/>
              </a:rPr>
              <a:t>L</a:t>
            </a: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)</a:t>
            </a:r>
            <a:endParaRPr sz="1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092FD0BF-9C3B-4532-877F-EECB28E2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2884" y="4858494"/>
            <a:ext cx="3685788" cy="49909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4902"/>
              </a:lnSpc>
              <a:buNone/>
            </a:pPr>
            <a:r>
              <a:rPr sz="33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0.0574</a:t>
            </a:r>
            <a:endParaRPr sz="3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A2C5CA16-B1B6-429F-B042-13A9AD23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267" y="5586189"/>
            <a:ext cx="3685788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>
                <a:solidFill>
                  <a:srgbClr val="5B6470"/>
                </a:solidFill>
                <a:latin typeface="Arial"/>
                <a:ea typeface="Arial"/>
                <a:cs typeface="Arial"/>
              </a:rPr>
              <a:t>2 mm level mismatch</a:t>
            </a:r>
            <a:endParaRPr sz="1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D45D95A-5749-4182-9227-B424505A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267" y="5948139"/>
            <a:ext cx="3685788" cy="5349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652"/>
              </a:lnSpc>
              <a:buNone/>
            </a:pPr>
            <a:r>
              <a:rPr sz="30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Δ</a:t>
            </a:r>
            <a:r>
              <a:rPr sz="3000" b="1" i="1">
                <a:solidFill>
                  <a:srgbClr val="0B7A75"/>
                </a:solidFill>
                <a:latin typeface="Arial"/>
                <a:ea typeface="Arial"/>
                <a:cs typeface="Arial"/>
              </a:rPr>
              <a:t>C</a:t>
            </a:r>
            <a:r>
              <a:rPr sz="25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L </a:t>
            </a:r>
            <a:r>
              <a:rPr sz="30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≈ 0.0229</a:t>
            </a:r>
            <a:endParaRPr sz="30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D8BAF980-2096-4C15-9C0B-6A0A1F4C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267" y="6692652"/>
            <a:ext cx="7748766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OBSERVATION</a:t>
            </a:r>
            <a:endParaRPr sz="18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DCF1016-9ECB-4B98-9877-BC64610D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267" y="7045077"/>
            <a:ext cx="7255663" cy="8259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452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Force measurement dominates both coefficients. Velocity is next for drag, since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C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∝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U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b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−2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.</a:t>
            </a:r>
            <a:endParaRPr sz="2025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8AFBB84-C3F7-4929-A6D1-5D1C78DCC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267" y="8080549"/>
            <a:ext cx="7255663" cy="7561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537"/>
              </a:lnSpc>
              <a:buNone/>
            </a:pPr>
            <a:r>
              <a:rPr sz="2175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The mean lift is smaller than its uncertainty: it is compatible with zero.</a:t>
            </a:r>
            <a:endParaRPr sz="2175"/>
          </a:p>
        </p:txBody>
      </p:sp>
    </p:spTree>
    <p:extLst>
      <p:ext uri="{BB962C8B-B14F-4D97-AF65-F5344CB8AC3E}">
        <p14:creationId xmlns:p14="http://schemas.microsoft.com/office/powerpoint/2010/main" val="81012346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2A31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AA75FD3-9B88-4631-8C46-8ADBD275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1760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spc="21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SYNTHESIS</a:t>
            </a:r>
            <a:endParaRPr sz="2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029E24E-5F27-4D74-BDC9-D5A358AD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20530"/>
            <a:ext cx="15716250" cy="1181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6957"/>
              </a:lnSpc>
              <a:buNone/>
            </a:pPr>
            <a:r>
              <a:rPr sz="9000" b="1" spc="-18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the evidence supports</a:t>
            </a:r>
            <a:endParaRPr sz="9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891CF7B-8D20-44FB-9DC3-BC0CE99A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68330"/>
            <a:ext cx="15716250" cy="52670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931"/>
              </a:lnSpc>
              <a:buNone/>
            </a:pPr>
            <a:r>
              <a:rPr sz="2850">
                <a:solidFill>
                  <a:srgbClr val="FFFFFF"/>
                </a:solidFill>
                <a:latin typeface="Arial"/>
                <a:ea typeface="Arial"/>
                <a:cs typeface="Arial"/>
              </a:rPr>
              <a:t>Cross-comparison of independent estimates, conclusions and the range over which they hold.</a:t>
            </a:r>
            <a:endParaRPr sz="28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F2D3CF2-34D1-4C79-893E-816EB043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920163"/>
            <a:ext cx="160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423B83B-785F-42CB-BD78-F6194DE81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205913"/>
            <a:ext cx="3595911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29 Strouhal comparison</a:t>
            </a:r>
            <a:endParaRPr sz="19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E4FBB08-45BE-48A9-8B7A-0091AD49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9210" y="9205913"/>
            <a:ext cx="2288351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30 Conclusions</a:t>
            </a:r>
            <a:endParaRPr sz="19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15182D2-9680-4428-9DBD-594D1704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729" y="9205913"/>
            <a:ext cx="5720797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31 Range of validity and extensions</a:t>
            </a:r>
            <a:endParaRPr sz="1950"/>
          </a:p>
        </p:txBody>
      </p:sp>
    </p:spTree>
    <p:extLst>
      <p:ext uri="{BB962C8B-B14F-4D97-AF65-F5344CB8AC3E}">
        <p14:creationId xmlns:p14="http://schemas.microsoft.com/office/powerpoint/2010/main" val="94703596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31BB545-8A43-4C30-8118-DB1E0812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47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EFE2440-0A50-4CE1-B1B9-A1F2D4B79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1493699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SYNTHESIS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A8FD1E5-9F9C-4481-A115-6A30D36D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29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9DBDC3E-8C16-430F-ACB7-B718FC25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Two Strouhal estimates, one shedding regime</a:t>
            </a:r>
            <a:endParaRPr sz="42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FA07E59-5842-4D7E-A5B8-3E7BF197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9170"/>
            <a:ext cx="3657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1085941-9C2C-482F-BD9C-DAD97CAD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37770"/>
            <a:ext cx="402336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PSV · LOCAL VELOCITY</a:t>
            </a:r>
            <a:endParaRPr sz="18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73C2186-D3A3-4E49-9608-ACEEAD48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47345"/>
            <a:ext cx="4023360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6878"/>
              </a:lnSpc>
              <a:buNone/>
            </a:pPr>
            <a:r>
              <a:rPr sz="7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0.204</a:t>
            </a:r>
            <a:endParaRPr sz="7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939FACF-58F7-407C-AA71-90741A1A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21400"/>
            <a:ext cx="4023360" cy="4359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f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s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= 0.567 Hz at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U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b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= 0.167 m/s</a:t>
            </a:r>
            <a:endParaRPr sz="2025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90ABE6B-76A2-4F91-91AA-478332A0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309170"/>
            <a:ext cx="3657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497FF09-566B-453D-9BDE-845CBD9FB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537770"/>
            <a:ext cx="402336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LOAD CELL · LIFT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9821D3A-E3CF-4EFD-A1CE-E582C5CB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947345"/>
            <a:ext cx="4023360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6878"/>
              </a:lnSpc>
              <a:buNone/>
            </a:pPr>
            <a:r>
              <a:rPr sz="72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0.181</a:t>
            </a:r>
            <a:endParaRPr sz="7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CF3CAA5-2E48-40C6-9D5F-D1C0B28C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6121400"/>
            <a:ext cx="4023360" cy="4359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f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s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= 1.006 Hz at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U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b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= 0.333 m/s</a:t>
            </a:r>
            <a:endParaRPr sz="2025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6BCC763-3C06-4324-B384-0B07A8FEC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10400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59353C6-48EF-428E-809C-519AEBA9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188200"/>
            <a:ext cx="8005572" cy="476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|Δ</a:t>
            </a:r>
            <a:r>
              <a:rPr sz="240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St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| = </a:t>
            </a:r>
            <a:r>
              <a:rPr sz="24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0.023</a:t>
            </a: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, force estimate 11.3% below PSV</a:t>
            </a:r>
            <a:endParaRPr sz="2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527FCF3-5E7A-46AC-BFEA-A26EEA2B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930030"/>
            <a:ext cx="854964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DIFFERENCES BETWEEN THE ACQUISITIONS</a:t>
            </a:r>
            <a:endParaRPr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C86BF15F-FAE7-4676-944F-47C61A4A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453905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64B691C-9A8F-4BD8-97D7-2AD192FF0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596780"/>
            <a:ext cx="533400" cy="4238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391"/>
              </a:lnSpc>
              <a:buNone/>
            </a:pPr>
            <a:r>
              <a:rPr sz="225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1</a:t>
            </a:r>
            <a:endParaRPr sz="22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D961B1A-660E-4A6B-AB62-46C84604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596780"/>
            <a:ext cx="7962900" cy="4238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391"/>
              </a:lnSpc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Bulk velocity doubles between the two acquisitions.</a:t>
            </a:r>
            <a:endParaRPr sz="22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60AB3266-0BBE-4A7A-B06D-8535DF3F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211142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9DD78F8-AD97-4514-95DD-78F8F0AA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354017"/>
            <a:ext cx="533400" cy="4238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391"/>
              </a:lnSpc>
              <a:buNone/>
            </a:pPr>
            <a:r>
              <a:rPr sz="225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2</a:t>
            </a:r>
            <a:endParaRPr sz="22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DC90B7B-72E4-4A34-A546-770D8819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354017"/>
            <a:ext cx="7962900" cy="4238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391"/>
              </a:lnSpc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Water depth changes from 0.42 to 0.45 m.</a:t>
            </a:r>
            <a:endParaRPr sz="22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2EF8CF6B-10EA-4AC9-982D-BB6E9032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968380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E606822-F336-4FEF-9216-5E0AF618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111255"/>
            <a:ext cx="533400" cy="809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391"/>
              </a:lnSpc>
              <a:buNone/>
            </a:pPr>
            <a:r>
              <a:rPr sz="225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3</a:t>
            </a:r>
            <a:endParaRPr sz="22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BB5F8418-C212-4491-940D-CB717EC4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6111255"/>
            <a:ext cx="7456170" cy="809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391"/>
              </a:lnSpc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The estimators differ: local transverse velocity against span-integrated force.</a:t>
            </a:r>
            <a:endParaRPr sz="22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5BD7235-A2C8-4006-8037-B49AA60F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7111380"/>
            <a:ext cx="8005572" cy="952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537"/>
              </a:lnSpc>
              <a:buNone/>
            </a:pPr>
            <a:r>
              <a:rPr sz="2175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Both estimates indicate the same shedding regime, but the tests were conducted under different flow conditions.</a:t>
            </a:r>
            <a:endParaRPr sz="2175"/>
          </a:p>
        </p:txBody>
      </p:sp>
    </p:spTree>
    <p:extLst>
      <p:ext uri="{BB962C8B-B14F-4D97-AF65-F5344CB8AC3E}">
        <p14:creationId xmlns:p14="http://schemas.microsoft.com/office/powerpoint/2010/main" val="1248820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536AFF8-4A2D-429E-8359-96FE8A2A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47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E3A01F8-3F0B-41D4-B819-77021193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1493699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SYNTHESIS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05AA177-F75A-4604-A841-6BC1DB85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30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1141CAA-DE26-4D00-A23D-5F0C7F22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Conclusions</a:t>
            </a:r>
            <a:endParaRPr sz="42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FB7E1D-D6FD-4479-8461-0DC7254C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3070"/>
            <a:ext cx="784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59FE7C7-94BF-41EE-A60C-799CC9A0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82145"/>
            <a:ext cx="685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1</a:t>
            </a:r>
            <a:endParaRPr sz="27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5F92E86-88F3-48E0-BB83-1AFDA8E9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182145"/>
            <a:ext cx="787908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LAMINAR CFD · VERIFIED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FA59DC0-F689-4544-AC95-99430A0A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53620"/>
            <a:ext cx="7377684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391"/>
              </a:lnSpc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Final refinement changes the observables by less than 1%. Profile error </a:t>
            </a:r>
            <a:r>
              <a:rPr sz="225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3.18%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, pressure-gradient error </a:t>
            </a:r>
            <a:r>
              <a:rPr sz="225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1.24%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.</a:t>
            </a:r>
            <a:endParaRPr sz="22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CE1E7E7-C0D6-4172-B693-1472328A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63070"/>
            <a:ext cx="784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AF63DDE-B34D-47AC-BB86-EF8097FE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182145"/>
            <a:ext cx="685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2</a:t>
            </a:r>
            <a:endParaRPr sz="27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566F90A-65AC-49DE-988F-D4FE4182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182145"/>
            <a:ext cx="787908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TURBULENT CFD · VALIDATED</a:t>
            </a:r>
            <a:endParaRPr sz="1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940F88F-BA7D-4C34-BAC6-374A559E4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553620"/>
            <a:ext cx="7377684" cy="8286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391"/>
              </a:lnSpc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Standard </a:t>
            </a:r>
            <a:r>
              <a:rPr sz="225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k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–</a:t>
            </a:r>
            <a:r>
              <a:rPr sz="225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ε 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gives the lowest profile RMSE and </a:t>
            </a:r>
            <a:r>
              <a:rPr sz="225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f 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= 0.018984, </a:t>
            </a:r>
            <a:r>
              <a:rPr sz="225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0.082% 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from experiment.</a:t>
            </a:r>
            <a:endParaRPr sz="22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367CA76-BBCF-47CF-A6A7-132D1758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63295"/>
            <a:ext cx="784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A06C2BF-C7C3-4586-8D99-06E642AA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82370"/>
            <a:ext cx="685800" cy="124539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3</a:t>
            </a:r>
            <a:endParaRPr sz="27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DF0A051-62CE-438B-A209-E3A382AD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982370"/>
            <a:ext cx="787908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MEASUREMENT CHAIN</a:t>
            </a:r>
            <a:endParaRPr sz="1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B27E73B-CA89-445D-B436-C1DF8508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353845"/>
            <a:ext cx="7377684" cy="862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391"/>
              </a:lnSpc>
              <a:buNone/>
            </a:pP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Linear load cell, </a:t>
            </a:r>
            <a:r>
              <a:rPr sz="225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R</a:t>
            </a:r>
            <a:r>
              <a:rPr sz="1875">
                <a:solidFill>
                  <a:srgbClr val="1A1D21"/>
                </a:solidFill>
                <a:latin typeface="Arial"/>
                <a:ea typeface="Arial"/>
                <a:cs typeface="Arial"/>
              </a:rPr>
              <a:t>2 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= 0.9999988. Near-zero loads settle slowly and bound the interpretation of mean lift.</a:t>
            </a:r>
            <a:endParaRPr sz="22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3016A44-31C5-40CF-9AEF-DF60307C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763295"/>
            <a:ext cx="784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6FBCB63-2F33-4A4C-BF17-79CBE1DF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982370"/>
            <a:ext cx="685800" cy="124539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4</a:t>
            </a:r>
            <a:endParaRPr sz="27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52F2BF5-CB08-47FA-B6E5-03EC7C67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982370"/>
            <a:ext cx="787908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72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CYLINDER WAKE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C6E4118-04C6-41E5-8287-829E9B38A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6353845"/>
            <a:ext cx="7377684" cy="8739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391"/>
              </a:lnSpc>
              <a:buNone/>
            </a:pPr>
            <a:r>
              <a:rPr sz="2250" b="1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C̅</a:t>
            </a:r>
            <a:r>
              <a:rPr sz="1875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D </a:t>
            </a:r>
            <a:r>
              <a:rPr sz="225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= 1.499 ± 0.076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, </a:t>
            </a:r>
            <a:r>
              <a:rPr sz="2250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C̅</a:t>
            </a:r>
            <a:r>
              <a:rPr sz="1875">
                <a:solidFill>
                  <a:srgbClr val="1A1D21"/>
                </a:solidFill>
                <a:latin typeface="Arial"/>
                <a:ea typeface="Arial"/>
                <a:cs typeface="Arial"/>
              </a:rPr>
              <a:t>L 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= −0.028 ± 0.057. Coherent shedding at </a:t>
            </a:r>
            <a:r>
              <a:rPr sz="2250" b="1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St </a:t>
            </a:r>
            <a:r>
              <a:rPr sz="225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= 0.181–0.204</a:t>
            </a:r>
            <a:r>
              <a:rPr sz="2250">
                <a:solidFill>
                  <a:srgbClr val="1A1D21"/>
                </a:solidFill>
                <a:latin typeface="Arial"/>
                <a:ea typeface="Arial"/>
                <a:cs typeface="Arial"/>
              </a:rPr>
              <a:t>.</a:t>
            </a:r>
            <a:endParaRPr sz="22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0C84026-8E98-4F1C-9989-BD83DA06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08852"/>
            <a:ext cx="18105120" cy="3971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537"/>
              </a:lnSpc>
              <a:buNone/>
            </a:pPr>
            <a:r>
              <a:rPr sz="2175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Each result is stated together with its reference, its error and the conditions under which it holds.</a:t>
            </a:r>
            <a:endParaRPr sz="2175"/>
          </a:p>
        </p:txBody>
      </p:sp>
    </p:spTree>
    <p:extLst>
      <p:ext uri="{BB962C8B-B14F-4D97-AF65-F5344CB8AC3E}">
        <p14:creationId xmlns:p14="http://schemas.microsoft.com/office/powerpoint/2010/main" val="86652648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FA8A5F7-A1EB-470F-AFD1-F0FC5322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47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E61D4DC-33AF-476B-94F6-F8FF0536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1493699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SYNTHESIS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E1A834C-A661-4883-B829-460574C6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31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FC95886-FE82-4D3A-BF66-B06521A0C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38225"/>
            <a:ext cx="18105120" cy="624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504"/>
              </a:lnSpc>
              <a:buNone/>
            </a:pPr>
            <a:r>
              <a:rPr sz="42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Range of validity and extensions</a:t>
            </a:r>
            <a:endParaRPr sz="42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36707F1-A29B-4E5C-8FA0-3694E4D7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57538"/>
            <a:ext cx="7772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F4E9F94-C134-4FFD-8461-4EFE6D5C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7963"/>
            <a:ext cx="8005572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CONDITIONS OF THE RESULTS</a:t>
            </a:r>
            <a:endParaRPr sz="18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5339A38-C0B6-40D9-95A2-17F9B762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9463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5ADFBEB-1A1F-4C17-AA30-DED36F61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2338"/>
            <a:ext cx="2266950" cy="7323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Grid</a:t>
            </a:r>
            <a:endParaRPr sz="2025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DAA2181-FA13-4094-871A-2B89E4B1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62338"/>
            <a:ext cx="5513642" cy="7323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Sensitivity quantified pairwise, below 1% on the final refinement in both regimes</a:t>
            </a:r>
            <a:endParaRPr sz="2025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0D1E954-2DAC-417D-A532-8F582F31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89971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D211E8C-3C36-4080-B886-7F969298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32846"/>
            <a:ext cx="2266950" cy="7323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Closures</a:t>
            </a:r>
            <a:endParaRPr sz="2025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38296FE-D7C2-4D5F-B505-FE4ED6311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432846"/>
            <a:ext cx="5513642" cy="7323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Model ranking established for the implemented mesh and wall treatment</a:t>
            </a:r>
            <a:endParaRPr sz="2025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34A37DD-C736-4BFC-AD0C-C991DF87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60479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032CE46-50EF-4A11-8F80-16140898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03354"/>
            <a:ext cx="2266950" cy="7323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Wake field</a:t>
            </a:r>
            <a:endParaRPr sz="2025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BAC230B-D5CD-44B7-9189-0413A30E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03354"/>
            <a:ext cx="5513642" cy="7323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Mean field and shedding frequency quantitative; vorticity phases describe topology</a:t>
            </a:r>
            <a:endParaRPr sz="2025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21E9BAE-D478-4930-BDEE-8FF63CF0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30987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0DDF9E7-3E01-4FE3-80DE-5BB0BE2D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73862"/>
            <a:ext cx="2266950" cy="10795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Forces</a:t>
            </a:r>
            <a:endParaRPr sz="2025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25852CA-B332-4157-961D-7C9F0DA3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6373862"/>
            <a:ext cx="5513642" cy="10795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Instrument-chain uncertainty propagated; installation effects bounded by a level-mismatch scenario</a:t>
            </a:r>
            <a:endParaRPr sz="2025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8D9CD0C3-FD8D-4081-8C83-0879090D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548637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145ACDF-F0D4-44BF-9A2F-1A251962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691512"/>
            <a:ext cx="2266950" cy="7323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Strouhal</a:t>
            </a:r>
            <a:endParaRPr sz="2025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810EC6F-6CD5-4285-B851-453428E3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7691512"/>
            <a:ext cx="5513642" cy="7323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Two operating points, compared through nondimensional quantities</a:t>
            </a:r>
            <a:endParaRPr sz="2025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B6053691-BB72-4246-BFA0-6ECE9A127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57538"/>
            <a:ext cx="7772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2D10CBF-244D-4A83-901E-FD34AF1A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747963"/>
            <a:ext cx="8005572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EXTENSION · OUTCOME</a:t>
            </a:r>
            <a:endParaRPr sz="180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73CA14F9-E36A-49D4-A5EF-6610C60D5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19463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7A554017-8A52-4230-9F82-3F27D376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462338"/>
            <a:ext cx="3939540" cy="3852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Constant-ratio grid triplets</a:t>
            </a:r>
            <a:endParaRPr sz="2025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0653368-EA38-4935-B028-D18238DD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96900" y="3462338"/>
            <a:ext cx="457200" cy="3852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→</a:t>
            </a:r>
            <a:endParaRPr sz="2025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4E327A9A-65B1-42E7-A9BA-57C3ABB8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3462338"/>
            <a:ext cx="3939540" cy="3852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3A4048"/>
                </a:solidFill>
                <a:latin typeface="Arial"/>
                <a:ea typeface="Arial"/>
                <a:cs typeface="Arial"/>
              </a:rPr>
              <a:t>GCI and extrapolated solution</a:t>
            </a:r>
            <a:endParaRPr sz="2025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0604B3D4-93CA-4898-A7AE-76E364C2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942829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AD98943-AED7-4DD2-9A7E-409AF72D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085704"/>
            <a:ext cx="3939540" cy="43762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First-cell </a:t>
            </a:r>
            <a:r>
              <a:rPr sz="2025" i="1">
                <a:solidFill>
                  <a:srgbClr val="1A1D21"/>
                </a:solidFill>
                <a:latin typeface="Arial"/>
                <a:ea typeface="Arial"/>
                <a:cs typeface="Arial"/>
              </a:rPr>
              <a:t>y</a:t>
            </a:r>
            <a:r>
              <a:rPr sz="1688">
                <a:solidFill>
                  <a:srgbClr val="1A1D21"/>
                </a:solidFill>
                <a:latin typeface="Arial"/>
                <a:ea typeface="Arial"/>
                <a:cs typeface="Arial"/>
              </a:rPr>
              <a:t>+ </a:t>
            </a: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control</a:t>
            </a:r>
            <a:endParaRPr sz="2025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A1EE603-382B-4AB8-9B90-7FC8552F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96900" y="4085704"/>
            <a:ext cx="457200" cy="3852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→</a:t>
            </a:r>
            <a:endParaRPr sz="2025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BE26A12-7D5C-4EA3-A3F6-8CDB6D5E4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4085704"/>
            <a:ext cx="3688842" cy="7323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3A4048"/>
                </a:solidFill>
                <a:latin typeface="Arial"/>
                <a:ea typeface="Arial"/>
                <a:cs typeface="Arial"/>
              </a:rPr>
              <a:t>Targeted assessment of the low-Re wall treatment</a:t>
            </a:r>
            <a:endParaRPr sz="2025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EDBAA20A-756B-40BB-B9D8-EA4049FE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913337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5923A41B-37EF-40EE-B4C0-CFED06C9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056212"/>
            <a:ext cx="3939540" cy="3852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Conditional phase averaging</a:t>
            </a:r>
            <a:endParaRPr sz="2025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92615A7-2D9A-4735-B1A6-2B87C58BB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96900" y="5056212"/>
            <a:ext cx="457200" cy="3852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→</a:t>
            </a:r>
            <a:endParaRPr sz="2025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FB62B0CD-438B-4C0B-BBDA-FAFE816F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5056212"/>
            <a:ext cx="3939540" cy="3852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3A4048"/>
                </a:solidFill>
                <a:latin typeface="Arial"/>
                <a:ea typeface="Arial"/>
                <a:cs typeface="Arial"/>
              </a:rPr>
              <a:t>Quantitative vortex strength</a:t>
            </a:r>
            <a:endParaRPr sz="2025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3DFED174-0D5C-4D40-B7B2-C392A10B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536704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E891666E-762E-4098-897D-3B451602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679579"/>
            <a:ext cx="3688842" cy="7323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Blockage and free-surface corrections</a:t>
            </a:r>
            <a:endParaRPr sz="2025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2B08361D-CAD3-43C4-99A6-1F5A6605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96900" y="5679579"/>
            <a:ext cx="457200" cy="3852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→</a:t>
            </a:r>
            <a:endParaRPr sz="2025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FD0520F5-0705-4D9B-8C5E-D5E6BE27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5679579"/>
            <a:ext cx="3688842" cy="7323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3A4048"/>
                </a:solidFill>
                <a:latin typeface="Arial"/>
                <a:ea typeface="Arial"/>
                <a:cs typeface="Arial"/>
              </a:rPr>
              <a:t>Unbounded-flow force coefficients</a:t>
            </a:r>
            <a:endParaRPr sz="2025"/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36AAAEB2-6608-4AB0-A0EC-3868E8FC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507212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1E773A3E-1620-409D-ABB4-BAA18A90E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650087"/>
            <a:ext cx="3688842" cy="7323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1A1D21"/>
                </a:solidFill>
                <a:latin typeface="Arial"/>
                <a:ea typeface="Arial"/>
                <a:cs typeface="Arial"/>
              </a:rPr>
              <a:t>Synchronous PSV and force acquisition</a:t>
            </a:r>
            <a:endParaRPr sz="2025"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22B88B1F-718F-40AE-B84D-268E2A3A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96900" y="6650087"/>
            <a:ext cx="457200" cy="3852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 b="1">
                <a:solidFill>
                  <a:srgbClr val="0B7A75"/>
                </a:solidFill>
                <a:latin typeface="Arial"/>
                <a:ea typeface="Arial"/>
                <a:cs typeface="Arial"/>
              </a:rPr>
              <a:t>→</a:t>
            </a:r>
            <a:endParaRPr sz="2025"/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CB185A5B-BD17-412D-AA32-84307E06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6650087"/>
            <a:ext cx="3688842" cy="73238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581"/>
              </a:lnSpc>
              <a:buNone/>
            </a:pPr>
            <a:r>
              <a:rPr sz="2025">
                <a:solidFill>
                  <a:srgbClr val="3A4048"/>
                </a:solidFill>
                <a:latin typeface="Arial"/>
                <a:ea typeface="Arial"/>
                <a:cs typeface="Arial"/>
              </a:rPr>
              <a:t>Direct Strouhal cross-validation at one operating point</a:t>
            </a:r>
            <a:endParaRPr sz="2025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5C25747D-22A4-46B3-8791-AE1162BC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08852"/>
            <a:ext cx="18105120" cy="3971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2537"/>
              </a:lnSpc>
              <a:buNone/>
            </a:pPr>
            <a:r>
              <a:rPr sz="2175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The same verification and validation chain extends directly to each case.</a:t>
            </a:r>
            <a:endParaRPr sz="2175"/>
          </a:p>
        </p:txBody>
      </p:sp>
    </p:spTree>
    <p:extLst>
      <p:ext uri="{BB962C8B-B14F-4D97-AF65-F5344CB8AC3E}">
        <p14:creationId xmlns:p14="http://schemas.microsoft.com/office/powerpoint/2010/main" val="41953954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5B647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D8A682A-6E4A-462F-BAEB-9E57A409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176022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100" spc="21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APPENDIX</a:t>
            </a:r>
            <a:endParaRPr sz="2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D49C96F-9296-41FA-A52B-26BCC043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20530"/>
            <a:ext cx="15716250" cy="1181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86957"/>
              </a:lnSpc>
              <a:buNone/>
            </a:pPr>
            <a:r>
              <a:rPr sz="9000" b="1" spc="-180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Supporting material</a:t>
            </a:r>
            <a:endParaRPr sz="90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9CA78A5-AC82-4D2A-9395-CBDB8D197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68330"/>
            <a:ext cx="15716250" cy="52670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931"/>
              </a:lnSpc>
              <a:buNone/>
            </a:pPr>
            <a:r>
              <a:rPr sz="285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Complete grid-sensitivity metrics and the assumptions behind the uncertainty budget.</a:t>
            </a:r>
            <a:endParaRPr sz="28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A018688-B0AA-4CBA-9439-F67E439D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920163"/>
            <a:ext cx="160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50000"/>
            </a:srgbClr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EDDDC4D-D580-42BF-B4F9-53C66253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205913"/>
            <a:ext cx="2451817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A1 Grid metrics</a:t>
            </a:r>
            <a:endParaRPr sz="19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35C3ECA-275F-4D4D-AD3C-C58BCA37B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124" y="9205913"/>
            <a:ext cx="4249772" cy="3571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A2 Uncertainty assumptions</a:t>
            </a:r>
            <a:endParaRPr sz="1950"/>
          </a:p>
        </p:txBody>
      </p:sp>
    </p:spTree>
    <p:extLst>
      <p:ext uri="{BB962C8B-B14F-4D97-AF65-F5344CB8AC3E}">
        <p14:creationId xmlns:p14="http://schemas.microsoft.com/office/powerpoint/2010/main" val="75036109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D0EB6D2-EE38-4944-B63F-9C6231CF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ln xmlns:a="http://schemas.openxmlformats.org/drawingml/2006/main" w="19050">
            <a:solidFill>
              <a:srgbClr val="5B647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EBF3A0F-8E0A-456B-A883-40527AF8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132777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APPENDIX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72CBD8E-9DA7-4CAE-979B-CFA2B8FF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A1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E22975F-EC73-4CAA-A88F-9E8E89A3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57275"/>
            <a:ext cx="1810512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652"/>
              </a:lnSpc>
              <a:buNone/>
            </a:pPr>
            <a:r>
              <a:rPr sz="45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Complete grid-sensitivity metrics</a:t>
            </a:r>
            <a:endParaRPr sz="45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810C016-E799-42A7-BB92-4E74FD7D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03997"/>
            <a:ext cx="292231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2093F62-DDD3-4286-8839-F4003AA8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46797"/>
            <a:ext cx="3009984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5B6470"/>
                </a:solidFill>
                <a:latin typeface="Arial"/>
                <a:ea typeface="Arial"/>
                <a:cs typeface="Arial"/>
              </a:rPr>
              <a:t>Regime</a:t>
            </a:r>
            <a:endParaRPr sz="19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F1FD5E4-6C79-4D1E-AF25-2348A2BA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715" y="3403997"/>
            <a:ext cx="298489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26AE0B7-67C2-48BE-A1A8-9BE096294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715" y="2946797"/>
            <a:ext cx="3074444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50">
                <a:solidFill>
                  <a:srgbClr val="5B6470"/>
                </a:solidFill>
                <a:latin typeface="Arial"/>
                <a:ea typeface="Arial"/>
                <a:cs typeface="Arial"/>
              </a:rPr>
              <a:t>Refinement</a:t>
            </a:r>
            <a:endParaRPr sz="19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6AD9B97-1DFE-4E39-AB80-8C7F3F43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612" y="3403997"/>
            <a:ext cx="360350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769A7E0-EE21-4C54-A4FF-19432323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3506" y="2946797"/>
            <a:ext cx="3711606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950">
                <a:solidFill>
                  <a:srgbClr val="5B6470"/>
                </a:solidFill>
                <a:latin typeface="Arial"/>
                <a:ea typeface="Arial"/>
                <a:cs typeface="Arial"/>
              </a:rPr>
              <a:t>Coarse–medium</a:t>
            </a:r>
            <a:endParaRPr sz="19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7D0D44F-AAB9-47B4-A8E4-13934C31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113" y="3403997"/>
            <a:ext cx="287178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D2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3EA2151-33DF-4820-9C34-3BB5451B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8959" y="2946797"/>
            <a:ext cx="2957941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950">
                <a:solidFill>
                  <a:srgbClr val="5B6470"/>
                </a:solidFill>
                <a:latin typeface="Arial"/>
                <a:ea typeface="Arial"/>
                <a:cs typeface="Arial"/>
              </a:rPr>
              <a:t>Medium–fine</a:t>
            </a:r>
            <a:endParaRPr sz="19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F576D3D-2B1D-4FB0-ADD8-77EBE85B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56472"/>
            <a:ext cx="292231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2975D45-BE4E-438F-B072-72AF904B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56397"/>
            <a:ext cx="3009984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5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Laminar</a:t>
            </a:r>
            <a:endParaRPr sz="25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98E69AA-EE46-4B8D-8756-20023308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715" y="4156472"/>
            <a:ext cx="298489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B90FBD6-F2AE-4B3F-86E2-07578ADE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715" y="3556397"/>
            <a:ext cx="3074444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50">
                <a:solidFill>
                  <a:srgbClr val="1A1D21"/>
                </a:solidFill>
                <a:latin typeface="Arial"/>
                <a:ea typeface="Arial"/>
                <a:cs typeface="Arial"/>
              </a:rPr>
              <a:t>Radial</a:t>
            </a:r>
            <a:endParaRPr sz="25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6A91564-DA65-4D0D-89D8-7848B2E1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612" y="4156472"/>
            <a:ext cx="360350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EB52974-B692-4B39-896C-EA56FB25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3506" y="3556397"/>
            <a:ext cx="3711606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550">
                <a:solidFill>
                  <a:srgbClr val="1A1D21"/>
                </a:solidFill>
                <a:latin typeface="Arial"/>
                <a:ea typeface="Arial"/>
                <a:cs typeface="Arial"/>
              </a:rPr>
              <a:t>2.359%</a:t>
            </a:r>
            <a:endParaRPr sz="25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2C2E311E-7433-4E1D-800D-F4889658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113" y="4156472"/>
            <a:ext cx="287178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8092957-F555-4148-A83A-572A913C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8959" y="3556397"/>
            <a:ext cx="2957941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55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0.521%</a:t>
            </a:r>
            <a:endParaRPr sz="25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24F0811-0EA2-4089-99CA-91AC0753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4659"/>
            <a:ext cx="292231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B281D9C3-6632-4176-BAE6-894612EA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715" y="4894659"/>
            <a:ext cx="298489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36AE832-95FE-41EF-B18B-5AC05F12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715" y="4299347"/>
            <a:ext cx="3074444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50">
                <a:solidFill>
                  <a:srgbClr val="1A1D21"/>
                </a:solidFill>
                <a:latin typeface="Arial"/>
                <a:ea typeface="Arial"/>
                <a:cs typeface="Arial"/>
              </a:rPr>
              <a:t>Axial</a:t>
            </a:r>
            <a:endParaRPr sz="25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6510EF33-232C-4CED-953C-0D8B1720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612" y="4894659"/>
            <a:ext cx="360350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4436E0F-C722-4659-8336-6EF71546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3506" y="4299347"/>
            <a:ext cx="3711606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550">
                <a:solidFill>
                  <a:srgbClr val="1A1D21"/>
                </a:solidFill>
                <a:latin typeface="Arial"/>
                <a:ea typeface="Arial"/>
                <a:cs typeface="Arial"/>
              </a:rPr>
              <a:t>0.412%</a:t>
            </a:r>
            <a:endParaRPr sz="25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F5217B5F-6D56-4F2B-96F0-EB300602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113" y="4894659"/>
            <a:ext cx="287178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F311ECD-391D-4BE7-8DE3-280705FD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8959" y="4299347"/>
            <a:ext cx="2957941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55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0.225%</a:t>
            </a:r>
            <a:endParaRPr sz="25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3CBF0D28-5097-4E22-AC90-B56CC096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32847"/>
            <a:ext cx="292231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3A4F5EB5-7B83-44B1-91B1-78E945AB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715" y="5632847"/>
            <a:ext cx="298489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B7649CB-1B76-41A8-9DB1-50718067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715" y="5037534"/>
            <a:ext cx="3074444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50">
                <a:solidFill>
                  <a:srgbClr val="1A1D21"/>
                </a:solidFill>
                <a:latin typeface="Arial"/>
                <a:ea typeface="Arial"/>
                <a:cs typeface="Arial"/>
              </a:rPr>
              <a:t>Combined</a:t>
            </a:r>
            <a:endParaRPr sz="25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DE8F1826-3336-4708-B928-CE264186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612" y="5632847"/>
            <a:ext cx="360350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2057730-A49E-4D86-B0DF-FB3EEBDE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3506" y="5037534"/>
            <a:ext cx="3711606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550">
                <a:solidFill>
                  <a:srgbClr val="1A1D21"/>
                </a:solidFill>
                <a:latin typeface="Arial"/>
                <a:ea typeface="Arial"/>
                <a:cs typeface="Arial"/>
              </a:rPr>
              <a:t>1.438%</a:t>
            </a:r>
            <a:endParaRPr sz="25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81C82E8F-C965-4B21-AE96-383D7B20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113" y="5632847"/>
            <a:ext cx="287178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F475DCE3-5797-48F5-9333-561A028A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8959" y="5037534"/>
            <a:ext cx="2957941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55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0.925%</a:t>
            </a:r>
            <a:endParaRPr sz="25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7F350990-A375-487F-B15B-BFB091DD6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71034"/>
            <a:ext cx="292231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6FFD722A-72D1-45DC-A6F8-4F3A8369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75722"/>
            <a:ext cx="3009984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5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Turbulent</a:t>
            </a:r>
            <a:endParaRPr sz="255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75A2D1E7-38A5-4350-984B-86EF4401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715" y="6371034"/>
            <a:ext cx="298489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DA91B99D-1A25-4C35-A837-605EC9F5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715" y="5775722"/>
            <a:ext cx="3074444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50">
                <a:solidFill>
                  <a:srgbClr val="1A1D21"/>
                </a:solidFill>
                <a:latin typeface="Arial"/>
                <a:ea typeface="Arial"/>
                <a:cs typeface="Arial"/>
              </a:rPr>
              <a:t>Radial</a:t>
            </a:r>
            <a:endParaRPr sz="25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1081C929-0583-4A64-A509-5DD503DB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612" y="6371034"/>
            <a:ext cx="360350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76D93163-77BD-4AC5-84DD-ABC5F91C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3506" y="5775722"/>
            <a:ext cx="3711606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550">
                <a:solidFill>
                  <a:srgbClr val="1A1D21"/>
                </a:solidFill>
                <a:latin typeface="Arial"/>
                <a:ea typeface="Arial"/>
                <a:cs typeface="Arial"/>
              </a:rPr>
              <a:t>0.842%</a:t>
            </a:r>
            <a:endParaRPr sz="255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A0D2055F-DFC3-4D8C-88B2-82E780CD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113" y="6371034"/>
            <a:ext cx="287178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9D0AF07D-D22B-4E7E-8E98-0E9D9DC0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8959" y="5775722"/>
            <a:ext cx="2957941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55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0.242%</a:t>
            </a:r>
            <a:endParaRPr sz="255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B1848E1B-53E3-40C6-947F-1FD60C33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109222"/>
            <a:ext cx="292231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5C40277E-25CB-4EFD-B01D-C63EF45B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715" y="7109222"/>
            <a:ext cx="298489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13A2BBFA-CB9B-4379-8DB0-6A9A202D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715" y="6513909"/>
            <a:ext cx="3074444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50">
                <a:solidFill>
                  <a:srgbClr val="1A1D21"/>
                </a:solidFill>
                <a:latin typeface="Arial"/>
                <a:ea typeface="Arial"/>
                <a:cs typeface="Arial"/>
              </a:rPr>
              <a:t>Axial</a:t>
            </a:r>
            <a:endParaRPr sz="2550"/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27EA78A3-F323-45EE-84C1-24BA42BF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612" y="7109222"/>
            <a:ext cx="360350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4AEF3A0C-762E-4B4F-B7AB-2CEDB41C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3506" y="6513909"/>
            <a:ext cx="3711606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550">
                <a:solidFill>
                  <a:srgbClr val="1A1D21"/>
                </a:solidFill>
                <a:latin typeface="Arial"/>
                <a:ea typeface="Arial"/>
                <a:cs typeface="Arial"/>
              </a:rPr>
              <a:t>0.260%</a:t>
            </a:r>
            <a:endParaRPr sz="2550"/>
          </a:p>
        </p:txBody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492EB929-35B7-48BD-84BE-288CB635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113" y="7109222"/>
            <a:ext cx="287178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4CF02711-F325-46FD-824B-E679B94C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8959" y="6513909"/>
            <a:ext cx="2957941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55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0.132%</a:t>
            </a:r>
            <a:endParaRPr sz="2550"/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2900FF89-55A0-4E85-A37E-35B994D1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847409"/>
            <a:ext cx="292231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37C25EC6-19B0-41DF-85BC-33D4BB05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715" y="7847409"/>
            <a:ext cx="298489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7747AFD1-760B-41B2-BA0E-AA2F183E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715" y="7252097"/>
            <a:ext cx="3074444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50">
                <a:solidFill>
                  <a:srgbClr val="1A1D21"/>
                </a:solidFill>
                <a:latin typeface="Arial"/>
                <a:ea typeface="Arial"/>
                <a:cs typeface="Arial"/>
              </a:rPr>
              <a:t>Combined</a:t>
            </a:r>
            <a:endParaRPr sz="255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180802A8-B105-41C6-B4B3-F84A832F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612" y="7847409"/>
            <a:ext cx="360350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2916D0B9-6888-4038-88F3-5D35D05E6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3506" y="7252097"/>
            <a:ext cx="3711606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550">
                <a:solidFill>
                  <a:srgbClr val="1A1D21"/>
                </a:solidFill>
                <a:latin typeface="Arial"/>
                <a:ea typeface="Arial"/>
                <a:cs typeface="Arial"/>
              </a:rPr>
              <a:t>0.625%</a:t>
            </a:r>
            <a:endParaRPr sz="255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250BF1AA-456A-4235-9438-3255D232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5113" y="7847409"/>
            <a:ext cx="287178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FC4202A6-0E39-4B55-B7E5-5463AC26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8959" y="7252097"/>
            <a:ext cx="2957941" cy="50006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55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0.366%</a:t>
            </a:r>
            <a:endParaRPr sz="2550"/>
          </a:p>
        </p:txBody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847E50AA-8A0B-46A1-9D07-BE172DC8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66497"/>
            <a:ext cx="13620750" cy="4786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7391"/>
              </a:lnSpc>
              <a:buNone/>
            </a:pPr>
            <a:r>
              <a:rPr sz="2250">
                <a:solidFill>
                  <a:srgbClr val="3A4048"/>
                </a:solidFill>
                <a:latin typeface="Arial"/>
                <a:ea typeface="Arial"/>
                <a:cs typeface="Arial"/>
              </a:rPr>
              <a:t>Relative </a:t>
            </a:r>
            <a:r>
              <a:rPr sz="2250" i="1">
                <a:solidFill>
                  <a:srgbClr val="3A4048"/>
                </a:solidFill>
                <a:latin typeface="Arial"/>
                <a:ea typeface="Arial"/>
                <a:cs typeface="Arial"/>
              </a:rPr>
              <a:t>L</a:t>
            </a:r>
            <a:r>
              <a:rPr sz="1875">
                <a:solidFill>
                  <a:srgbClr val="3A4048"/>
                </a:solidFill>
                <a:latin typeface="Arial"/>
                <a:ea typeface="Arial"/>
                <a:cs typeface="Arial"/>
              </a:rPr>
              <a:t>∞ </a:t>
            </a:r>
            <a:r>
              <a:rPr sz="2250">
                <a:solidFill>
                  <a:srgbClr val="3A4048"/>
                </a:solidFill>
                <a:latin typeface="Arial"/>
                <a:ea typeface="Arial"/>
                <a:cs typeface="Arial"/>
              </a:rPr>
              <a:t>difference between successive grids. Pairwise differences, not an asymptotic GCI.</a:t>
            </a:r>
            <a:endParaRPr sz="2250"/>
          </a:p>
        </p:txBody>
      </p:sp>
    </p:spTree>
    <p:extLst>
      <p:ext uri="{BB962C8B-B14F-4D97-AF65-F5344CB8AC3E}">
        <p14:creationId xmlns:p14="http://schemas.microsoft.com/office/powerpoint/2010/main" val="134677370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1CDF4BC-9C1B-4017-87BA-6DE854F8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3"/>
            <a:ext cx="133350" cy="133350"/>
          </a:xfrm>
          <a:prstGeom xmlns:a="http://schemas.openxmlformats.org/drawingml/2006/main" prst="rect">
            <a:avLst/>
          </a:prstGeom>
          <a:ln xmlns:a="http://schemas.openxmlformats.org/drawingml/2006/main" w="19050">
            <a:solidFill>
              <a:srgbClr val="5B647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E33DC3E-C7E6-4F89-B88D-4EDC3AC4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1500"/>
            <a:ext cx="1327778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APPENDIX</a:t>
            </a:r>
            <a:endParaRPr sz="1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7AA81D2-A961-4873-9F09-60134E54F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71777" y="571500"/>
            <a:ext cx="378023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5B6470"/>
                </a:solidFill>
                <a:latin typeface="Courier New"/>
                <a:ea typeface="Courier New"/>
                <a:cs typeface="Courier New"/>
              </a:rPr>
              <a:t>A2</a:t>
            </a:r>
            <a:endParaRPr sz="18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12F5E87-EBED-4B9F-AF70-106812E2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57275"/>
            <a:ext cx="1810512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5652"/>
              </a:lnSpc>
              <a:buNone/>
            </a:pPr>
            <a:r>
              <a:rPr sz="4500" b="1">
                <a:solidFill>
                  <a:srgbClr val="1B3A5C"/>
                </a:solidFill>
                <a:latin typeface="Arial"/>
                <a:ea typeface="Arial"/>
                <a:cs typeface="Arial"/>
              </a:rPr>
              <a:t>Uncertainty assumptions and limitations</a:t>
            </a:r>
            <a:endParaRPr sz="45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DC28064-DD9E-4AA2-944E-C445093C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2838"/>
            <a:ext cx="7772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3A5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4AF1888-6A2E-4BCA-A50A-6D78585D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3263"/>
            <a:ext cx="8005572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1B3A5C"/>
                </a:solidFill>
                <a:latin typeface="Courier New"/>
                <a:ea typeface="Courier New"/>
                <a:cs typeface="Courier New"/>
              </a:rPr>
              <a:t>PROPAGATED · FIRST ORDER</a:t>
            </a:r>
            <a:endParaRPr sz="18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DF75B7A-31CC-4E22-89A7-52B65678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43413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8E078A7-77FC-4D10-92E2-A445F4A8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399" y="3871913"/>
            <a:ext cx="546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>
                <a:solidFill>
                  <a:srgbClr val="1A1D21"/>
                </a:solidFill>
                <a:latin typeface="Arial"/>
                <a:ea typeface="Arial"/>
                <a:cs typeface="Arial"/>
              </a:rPr>
              <a:t>Drag force</a:t>
            </a:r>
            <a:endParaRPr sz="2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EA13505-1C04-458A-A66B-CCDB7FDB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1000" y="3871913"/>
            <a:ext cx="195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2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0.045 N</a:t>
            </a:r>
            <a:endParaRPr sz="22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895C4F42-8709-4BFC-AF61-AA964102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4938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CE92580-BD62-4A10-8D94-E2B3B1FF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399" y="4643438"/>
            <a:ext cx="546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>
                <a:solidFill>
                  <a:srgbClr val="1A1D21"/>
                </a:solidFill>
                <a:latin typeface="Arial"/>
                <a:ea typeface="Arial"/>
                <a:cs typeface="Arial"/>
              </a:rPr>
              <a:t>Each vertical contribution</a:t>
            </a:r>
            <a:endParaRPr sz="2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4A3FB01-15BB-490D-A8C2-6B598C1F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1000" y="4643438"/>
            <a:ext cx="195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2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0.025 N</a:t>
            </a:r>
            <a:endParaRPr sz="2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280E921-23A5-42B4-85AA-AA4D7ED5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86463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793C96A-5939-40EC-B95E-4AB40266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14963"/>
            <a:ext cx="546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>
                <a:solidFill>
                  <a:srgbClr val="1A1D21"/>
                </a:solidFill>
                <a:latin typeface="Arial"/>
                <a:ea typeface="Arial"/>
                <a:cs typeface="Arial"/>
              </a:rPr>
              <a:t>Depth, channel width</a:t>
            </a:r>
            <a:endParaRPr sz="2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2DE7977-E884-4CFC-A600-B2D29448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0999" y="5414963"/>
            <a:ext cx="195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2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1 mm</a:t>
            </a:r>
            <a:endParaRPr sz="2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76783B89-AC2F-4C79-83CD-985DEF589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757988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CC1DC3A-AE9B-4951-B925-431C5AFE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86488"/>
            <a:ext cx="546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>
                <a:solidFill>
                  <a:srgbClr val="1A1D21"/>
                </a:solidFill>
                <a:latin typeface="Arial"/>
                <a:ea typeface="Arial"/>
                <a:cs typeface="Arial"/>
              </a:rPr>
              <a:t>Cylinder diameter</a:t>
            </a:r>
            <a:endParaRPr sz="22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9FD9432-95B2-4B55-8F4E-B82A4BAD9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1000" y="6186488"/>
            <a:ext cx="195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2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0.05 mm</a:t>
            </a:r>
            <a:endParaRPr sz="2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8C568EF4-2B45-4A71-B243-222B5E10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529513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CCE4262-B687-4D40-A2B9-B2277CD6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958013"/>
            <a:ext cx="546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>
                <a:solidFill>
                  <a:srgbClr val="1A1D21"/>
                </a:solidFill>
                <a:latin typeface="Arial"/>
                <a:ea typeface="Arial"/>
                <a:cs typeface="Arial"/>
              </a:rPr>
              <a:t>Span</a:t>
            </a:r>
            <a:endParaRPr sz="22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A5D6CD5-0701-4712-A7D4-B7161D05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0999" y="6958013"/>
            <a:ext cx="19558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2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1 mm</a:t>
            </a:r>
            <a:endParaRPr sz="22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D9F863BF-0538-409E-B432-A412CBCE1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301038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56C8667-AE31-47AA-8561-FE63D88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399" y="7729538"/>
            <a:ext cx="546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>
                <a:solidFill>
                  <a:srgbClr val="1A1D21"/>
                </a:solidFill>
                <a:latin typeface="Arial"/>
                <a:ea typeface="Arial"/>
                <a:cs typeface="Arial"/>
              </a:rPr>
              <a:t>Flow rate</a:t>
            </a:r>
            <a:endParaRPr sz="2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F67D700-C65D-4754-B3F8-02DF4720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729538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2000" b="1">
                <a:solidFill>
                  <a:srgbClr val="1A1D21"/>
                </a:solidFill>
                <a:latin typeface="Arial"/>
                <a:ea typeface="Arial"/>
                <a:cs typeface="Arial"/>
              </a:rPr>
              <a:t>0.5% + meter head</a:t>
            </a:r>
            <a:endParaRPr sz="20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EDB2936E-2807-4125-8C28-1ADF53E85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038600"/>
            <a:ext cx="7772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FBBDFF2-ED41-4602-A6B8-76073AB1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29025"/>
            <a:ext cx="8005572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spc="108">
                <a:solidFill>
                  <a:srgbClr val="0B7A75"/>
                </a:solidFill>
                <a:latin typeface="Courier New"/>
                <a:ea typeface="Courier New"/>
                <a:cs typeface="Courier New"/>
              </a:rPr>
              <a:t>NOT PROPAGATED</a:t>
            </a:r>
            <a:endParaRPr sz="18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4CBC353A-A8B4-4FB9-ABDC-EA99A49D0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829175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AAA6688-AC42-4E92-9174-C8F34F13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57675"/>
            <a:ext cx="8005572" cy="476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Blockage</a:t>
            </a:r>
            <a:endParaRPr sz="24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E8BE27D-1EF5-4200-B40C-3E100084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600700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C5F839E3-F0EE-410A-B0A5-0A30C7CD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029200"/>
            <a:ext cx="8005572" cy="476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Free-surface deformation</a:t>
            </a:r>
            <a:endParaRPr sz="24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39A47988-3D91-42E8-86CF-2C8B2326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72225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3F35DDBC-1FE8-4BCD-8227-370C7B683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800725"/>
            <a:ext cx="8005572" cy="476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End effects</a:t>
            </a:r>
            <a:endParaRPr sz="24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CAC8732F-4DA2-4547-9372-54BA01B3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7143750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E32532C-C544-4F11-9F4C-699E44CA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572250"/>
            <a:ext cx="8005572" cy="476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Alignment</a:t>
            </a:r>
            <a:endParaRPr sz="24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68719D1C-99DB-4612-AF19-963C3B00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7915275"/>
            <a:ext cx="7772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9D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7E07926F-F9AD-4C3E-A3EE-390CEAAA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7343775"/>
            <a:ext cx="8005572" cy="476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00" tIns="25400" rIns="25400" bIns="2540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>
                <a:solidFill>
                  <a:srgbClr val="1A1D21"/>
                </a:solidFill>
                <a:latin typeface="Arial"/>
                <a:ea typeface="Arial"/>
                <a:cs typeface="Arial"/>
              </a:rPr>
              <a:t>Non-simultaneous PSV and force acquisitions</a:t>
            </a: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73609258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4B3C35-C6F8-4F8D-959B-36CA775C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28650"/>
            <a:ext cx="1428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596879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596879"/>
                </a:solidFill>
                <a:latin typeface="Consolas"/>
                <a:ea typeface="Consolas"/>
                <a:cs typeface="Consolas"/>
              </a:rPr>
              <a:t>I · INTERNAL FLOW · CFD · ADDITIONAL 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4F22AD-2E44-48DD-866A-5A5B01AD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0" y="6286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800">
                <a:solidFill>
                  <a:srgbClr val="596879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596879"/>
                </a:solidFill>
                <a:latin typeface="Consolas"/>
                <a:ea typeface="Consolas"/>
                <a:cs typeface="Consolas"/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7E3993-5DB3-442D-8BDB-614E1BEE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04900"/>
            <a:ext cx="1619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73B63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73B63"/>
                </a:solidFill>
                <a:latin typeface="Aptos Display"/>
                <a:ea typeface="Aptos Display"/>
                <a:cs typeface="Aptos Display"/>
              </a:rPr>
              <a:t>Low-Re closure: resolution remains limiting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03F0B-B95A-44DE-9A13-2EFB9A87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1645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B3EA30-C8C0-4DEC-A810-2E9E1511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77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A83"/>
          </a:solidFill>
          <a:ln xmlns:a="http://schemas.openxmlformats.org/drawingml/2006/main" w="0">
            <a:noFill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049ee19e764e2f"/>
          <a:stretch xmlns:a="http://schemas.openxmlformats.org/drawingml/2006/main"/>
        </p:blipFill>
        <p:spPr>
          <a:xfrm xmlns:a="http://schemas.openxmlformats.org/drawingml/2006/main">
            <a:off x="1591604" y="2419350"/>
            <a:ext cx="6551341" cy="447675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8f4fab300445af"/>
          <a:stretch xmlns:a="http://schemas.openxmlformats.org/drawingml/2006/main"/>
        </p:blipFill>
        <p:spPr>
          <a:xfrm xmlns:a="http://schemas.openxmlformats.org/drawingml/2006/main">
            <a:off x="10107258" y="2419350"/>
            <a:ext cx="6626934" cy="4476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BBDFFD-F66A-4410-A0FA-A5DF1DC6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124700"/>
            <a:ext cx="790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078A83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078A83"/>
                </a:solidFill>
                <a:latin typeface="Consolas"/>
                <a:ea typeface="Consolas"/>
                <a:cs typeface="Consolas"/>
              </a:rPr>
              <a:t>RADIAL MESH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8B62EB-02AD-4763-AC6F-55730C93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486650"/>
            <a:ext cx="7905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>
                <a:solidFill>
                  <a:srgbClr val="202A35"/>
                </a:solidFill>
                <a:latin typeface="Aptos"/>
                <a:ea typeface="Aptos"/>
                <a:cs typeface="Aptos"/>
              </a:defRPr>
            </a:pPr>
            <a:r>
              <a:rPr sz="1950">
                <a:solidFill>
                  <a:srgbClr val="202A35"/>
                </a:solidFill>
                <a:latin typeface="Aptos"/>
                <a:ea typeface="Aptos"/>
                <a:cs typeface="Aptos"/>
              </a:rPr>
              <a:t>Successive profile changes: 1.10%, 0.55%, then 3.15%. The sequence does not demonstrate monotonic grid convergence.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FBE6D8-B826-4F65-AAA6-DBA8ECF91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7124700"/>
            <a:ext cx="790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078A83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078A83"/>
                </a:solidFill>
                <a:latin typeface="Consolas"/>
                <a:ea typeface="Consolas"/>
                <a:cs typeface="Consolas"/>
              </a:rPr>
              <a:t>ITERATION AND SPACING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DA5CCA-25BD-4016-8885-128D1DB14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7486650"/>
            <a:ext cx="7905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>
                <a:solidFill>
                  <a:srgbClr val="202A35"/>
                </a:solidFill>
                <a:latin typeface="Aptos"/>
                <a:ea typeface="Aptos"/>
                <a:cs typeface="Aptos"/>
              </a:defRPr>
            </a:pPr>
            <a:r>
              <a:rPr sz="1950">
                <a:solidFill>
                  <a:srgbClr val="202A35"/>
                </a:solidFill>
                <a:latin typeface="Aptos"/>
                <a:ea typeface="Aptos"/>
                <a:cs typeface="Aptos"/>
              </a:rPr>
              <a:t>At 1,000 iterations, eddy viscosity still changes by 4.05%. Spacing-exponent changes are below 0.66%, but do not resolve the mesh trend.</a:t>
            </a:r>
          </a:p>
        </p:txBody>
      </p:sp>
    </p:spTree>
    <p:extLst>
      <p:ext uri="{BB962C8B-B14F-4D97-AF65-F5344CB8AC3E}">
        <p14:creationId xmlns:p14="http://schemas.microsoft.com/office/powerpoint/2010/main" val="17010947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28C978-8B27-45D1-A0DE-56E4B9AF6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28650"/>
            <a:ext cx="1428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596879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596879"/>
                </a:solidFill>
                <a:latin typeface="Consolas"/>
                <a:ea typeface="Consolas"/>
                <a:cs typeface="Consolas"/>
              </a:rPr>
              <a:t>II · CYLINDER WAKE · PSV · ADDITIONAL ANALYSIS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3CD99B-C90D-4EBC-A723-41A4B791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0" y="6286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800">
                <a:solidFill>
                  <a:srgbClr val="596879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596879"/>
                </a:solidFill>
                <a:latin typeface="Consolas"/>
                <a:ea typeface="Consolas"/>
                <a:cs typeface="Consolas"/>
              </a:rPr>
              <a:t>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1C2B2C-D60A-43CE-9103-A383B3076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04900"/>
            <a:ext cx="1619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73B63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73B63"/>
                </a:solidFill>
                <a:latin typeface="Aptos Display"/>
                <a:ea typeface="Aptos Display"/>
                <a:cs typeface="Aptos Display"/>
              </a:rPr>
              <a:t>Spatial spectra support the shedding estimate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E6D5A-3784-476E-A086-F24E82BD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1645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96BBFB-33DC-4387-9976-2DB565BA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77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A83"/>
          </a:solidFill>
          <a:ln xmlns:a="http://schemas.openxmlformats.org/drawingml/2006/main" w="0">
            <a:noFill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84d9b805a0494f"/>
          <a:stretch xmlns:a="http://schemas.openxmlformats.org/drawingml/2006/main"/>
        </p:blipFill>
        <p:spPr>
          <a:xfrm xmlns:a="http://schemas.openxmlformats.org/drawingml/2006/main">
            <a:off x="1026128" y="2400300"/>
            <a:ext cx="10444545" cy="64960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FFF0A-0200-42FE-A07A-C3000AB9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27241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173B63"/>
                </a:solidFill>
                <a:latin typeface="Aptos Display"/>
                <a:ea typeface="Aptos Display"/>
                <a:cs typeface="Aptos Display"/>
              </a:defRPr>
            </a:pPr>
            <a:r>
              <a:rPr sz="4950" b="1">
                <a:solidFill>
                  <a:srgbClr val="173B63"/>
                </a:solidFill>
                <a:latin typeface="Aptos Display"/>
                <a:ea typeface="Aptos Display"/>
                <a:cs typeface="Aptos Display"/>
              </a:rPr>
              <a:t>59 / 690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287AE5-F925-4BAD-8969-8593AA1D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5623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>
                <a:solidFill>
                  <a:srgbClr val="596879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96879"/>
                </a:solidFill>
                <a:latin typeface="Aptos"/>
                <a:ea typeface="Aptos"/>
                <a:cs typeface="Aptos"/>
              </a:rPr>
              <a:t>grid points meet the 95% data-availability criterion.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55A858-0727-4B7C-8126-7499975E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48577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78A83"/>
                </a:solidFill>
                <a:latin typeface="Aptos Display"/>
                <a:ea typeface="Aptos Display"/>
                <a:cs typeface="Aptos Display"/>
              </a:defRPr>
            </a:pPr>
            <a:r>
              <a:rPr sz="4950" b="1">
                <a:solidFill>
                  <a:srgbClr val="078A83"/>
                </a:solidFill>
                <a:latin typeface="Aptos Display"/>
                <a:ea typeface="Aptos Display"/>
                <a:cs typeface="Aptos Display"/>
              </a:rPr>
              <a:t>43 / 59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D6D80F-249F-411B-A7C7-48D69740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5695950"/>
            <a:ext cx="457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>
                <a:solidFill>
                  <a:srgbClr val="596879"/>
                </a:solidFill>
                <a:latin typeface="Aptos"/>
                <a:ea typeface="Aptos"/>
                <a:cs typeface="Aptos"/>
              </a:defRPr>
            </a:pPr>
            <a:r>
              <a:rPr sz="2025">
                <a:solidFill>
                  <a:srgbClr val="596879"/>
                </a:solidFill>
                <a:latin typeface="Aptos"/>
                <a:ea typeface="Aptos"/>
                <a:cs typeface="Aptos"/>
              </a:rPr>
              <a:t>share the dominant bin at St = 0.204.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0E65C8-E88A-4006-AFD9-F5E27BB0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6953250"/>
            <a:ext cx="476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3B63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73B63"/>
                </a:solidFill>
                <a:latin typeface="Aptos Display"/>
                <a:ea typeface="Aptos Display"/>
                <a:cs typeface="Aptos Display"/>
              </a:rPr>
              <a:t>ΔSt ≈ 0.012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027D98-06F8-4115-AEF2-A4587A11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639050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>
                <a:solidFill>
                  <a:srgbClr val="596879"/>
                </a:solidFill>
                <a:latin typeface="Aptos"/>
                <a:ea typeface="Aptos"/>
                <a:cs typeface="Aptos"/>
              </a:defRPr>
            </a:pPr>
            <a:r>
              <a:rPr sz="1875">
                <a:solidFill>
                  <a:srgbClr val="596879"/>
                </a:solidFill>
                <a:latin typeface="Aptos"/>
                <a:ea typeface="Aptos"/>
                <a:cs typeface="Aptos"/>
              </a:rPr>
              <a:t>Finite-record frequency resolution. Isolated higher bins are not interpreted as a spatial gradient.</a:t>
            </a:r>
          </a:p>
        </p:txBody>
      </p:sp>
    </p:spTree>
    <p:extLst>
      <p:ext uri="{BB962C8B-B14F-4D97-AF65-F5344CB8AC3E}">
        <p14:creationId xmlns:p14="http://schemas.microsoft.com/office/powerpoint/2010/main" val="138547154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Antonio Arbizzani Tonelli</dc:creator>
  <lastModifiedBy>Antonio Arbizzani Tonelli</lastModifiedBy>
  <dc:title>Presentation</dc:title>
  <dcterms:created xsi:type="dcterms:W3CDTF">2026-09-23T10:31:47.0480000Z</dcterms:created>
  <dcterms:modified xsi:type="dcterms:W3CDTF">2026-09-23T13:00:04Z</dcterms:modified>
</coreProperties>
</file>