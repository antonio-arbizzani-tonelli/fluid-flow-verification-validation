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30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362075"/>
            <a:ext cx="15716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>
                <a:solidFill>
                  <a:srgbClr val="9CD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MSC MATHEMATICAL ENGINEERING · A.Y. 2025/26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19200" y="2914650"/>
            <a:ext cx="15811500" cy="264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528"/>
              </a:lnSpc>
              <a:buNone/>
            </a:pPr>
            <a:r>
              <a:rPr lang="en-US" sz="7600" b="1" kern="0" spc="-12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validation</a:t>
            </a:r>
          </a:p>
          <a:p>
            <a:pPr marL="0" indent="0" algn="l">
              <a:lnSpc>
                <a:spcPct val="90528"/>
              </a:lnSpc>
              <a:buNone/>
            </a:pPr>
            <a:r>
              <a:rPr lang="en-US" sz="7600" b="1" kern="0" spc="-12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fluid flows</a:t>
            </a:r>
          </a:p>
        </p:txBody>
      </p:sp>
      <p:sp>
        <p:nvSpPr>
          <p:cNvPr id="4" name="Text 2"/>
          <p:cNvSpPr/>
          <p:nvPr/>
        </p:nvSpPr>
        <p:spPr>
          <a:xfrm>
            <a:off x="1219200" y="6457950"/>
            <a:ext cx="140970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33"/>
              </a:lnSpc>
              <a:buNone/>
            </a:pPr>
            <a:r>
              <a:rPr lang="en-US" sz="2800">
                <a:solidFill>
                  <a:srgbClr val="DDE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analysis of internal flows</a:t>
            </a:r>
            <a:endParaRPr lang="en-US" sz="2550" dirty="0"/>
          </a:p>
          <a:p>
            <a:pPr marL="0" indent="0" algn="l">
              <a:lnSpc>
                <a:spcPct val="113333"/>
              </a:lnSpc>
              <a:buNone/>
            </a:pPr>
            <a:r>
              <a:rPr lang="en-US" sz="2800">
                <a:solidFill>
                  <a:srgbClr val="DDE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experimental characterisation of a circular-cylinder wake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219200" y="8773950"/>
            <a:ext cx="457200" cy="38100"/>
          </a:xfrm>
          <a:prstGeom prst="rect">
            <a:avLst/>
          </a:prstGeom>
          <a:solidFill>
            <a:srgbClr val="58C8B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866900" y="8458200"/>
            <a:ext cx="7620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 Arbizzani Tonelli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5B64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1327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at a glance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891605"/>
            <a:ext cx="1530477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and experimental study of two canonical flows, organised as a verification and validation chain. Every reported quantity is tied to a reference solution or measurement, and an explicit error metric.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231258"/>
            <a:ext cx="3771900" cy="381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14400" y="4478908"/>
            <a:ext cx="388505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LAMINAR PIPE · VERIFICATION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202808"/>
            <a:ext cx="414909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79"/>
              </a:lnSpc>
              <a:buNone/>
            </a:pPr>
            <a:r>
              <a:rPr lang="en-US" sz="5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1.24%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914400" y="5983858"/>
            <a:ext cx="3885057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Pressure-gradient error against Hagen–Poiseuille; profile error 3.18%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143500" y="4231258"/>
            <a:ext cx="3771900" cy="381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143500" y="4478908"/>
            <a:ext cx="388505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TURBULENT PIPE · 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43500" y="5202808"/>
            <a:ext cx="414909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79"/>
              </a:lnSpc>
              <a:buNone/>
            </a:pPr>
            <a:r>
              <a:rPr lang="en-US" sz="5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0.082%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5143500" y="5983858"/>
            <a:ext cx="3885057" cy="797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Friction-factor error of standard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75,000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372600" y="4231258"/>
            <a:ext cx="3771900" cy="3810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372600" y="4478908"/>
            <a:ext cx="4149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CYLINDER WAKE · SHEDDING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72600" y="4907533"/>
            <a:ext cx="414909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79"/>
              </a:lnSpc>
              <a:buNone/>
            </a:pPr>
            <a:r>
              <a:rPr lang="en-US" sz="5100" b="1" i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</a:t>
            </a:r>
            <a:r>
              <a:rPr lang="en-US" sz="51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0.18–0.20</a:t>
            </a:r>
            <a:endParaRPr lang="en-US" sz="5100" dirty="0"/>
          </a:p>
        </p:txBody>
      </p:sp>
      <p:sp>
        <p:nvSpPr>
          <p:cNvPr id="18" name="Text 16"/>
          <p:cNvSpPr/>
          <p:nvPr/>
        </p:nvSpPr>
        <p:spPr>
          <a:xfrm>
            <a:off x="9372600" y="5712396"/>
            <a:ext cx="3885057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independently from PSV velocity and lift force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3601700" y="4231258"/>
            <a:ext cx="3771900" cy="3810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3601700" y="4478908"/>
            <a:ext cx="388505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CYLINDER FORCES · UNCERTAINTY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601700" y="5202808"/>
            <a:ext cx="414909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79"/>
              </a:lnSpc>
              <a:buNone/>
            </a:pPr>
            <a:r>
              <a:rPr lang="en-US" sz="51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 ± 0.08</a:t>
            </a:r>
            <a:endParaRPr lang="en-US" sz="5100" dirty="0"/>
          </a:p>
        </p:txBody>
      </p:sp>
      <p:sp>
        <p:nvSpPr>
          <p:cNvPr id="22" name="Text 20"/>
          <p:cNvSpPr/>
          <p:nvPr/>
        </p:nvSpPr>
        <p:spPr>
          <a:xfrm>
            <a:off x="13601700" y="5983858"/>
            <a:ext cx="3885057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drag coefficient with first-order standard uncertainty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14400" y="8511629"/>
            <a:ext cx="164592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14400" y="8711654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9121229"/>
            <a:ext cx="16952976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 CFD (PHOENICS) · grid-sensitivity analysis · particle-shadow velocimetry · spectral analysis · load-cell calibration · uncertainty propagation · MATLAB data processing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5B64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49" y="571500"/>
            <a:ext cx="2286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435860"/>
            <a:ext cx="15697200" cy="134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874"/>
              </a:lnSpc>
              <a:buNone/>
            </a:pPr>
            <a:r>
              <a:rPr lang="en-US" sz="375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traceable verification and validation chain for numerical pipe flow and experimental cylinder-wake measurements.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4234383"/>
            <a:ext cx="7772400" cy="381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14400" y="4462983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 · INTERNAL 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834458"/>
            <a:ext cx="854964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 flow, CFD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447854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14400" y="5619304"/>
            <a:ext cx="2171700" cy="419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38500" y="5590729"/>
            <a:ext cx="5993130" cy="448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Laminar,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175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193 · turbulent,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175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75,000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6153596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14400" y="6325046"/>
            <a:ext cx="2171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38500" y="6296471"/>
            <a:ext cx="561174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Hagen–Poiseuille solution; measured profiles and friction factor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7168902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14400" y="7340352"/>
            <a:ext cx="217170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38500" y="7311777"/>
            <a:ext cx="5611749" cy="767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the solver, validation of four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8193732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14400" y="8365182"/>
            <a:ext cx="2171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38500" y="8336607"/>
            <a:ext cx="561174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profile, pressure gradient, Darcy friction factor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601200" y="4234383"/>
            <a:ext cx="7772400" cy="3810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601200" y="4462983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 · SEPARATED FLOW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4834458"/>
            <a:ext cx="854964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 wake, experiment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9601200" y="5447854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601200" y="5619304"/>
            <a:ext cx="2171700" cy="461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925300" y="5590729"/>
            <a:ext cx="5611749" cy="489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Unsteady wake,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175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</a:t>
            </a:r>
            <a:r>
              <a:rPr lang="en-US" sz="1750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601200" y="6194822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601200" y="6366272"/>
            <a:ext cx="2171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925300" y="6337697"/>
            <a:ext cx="561174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closed-form solution: calibrated measurement chain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601200" y="7210127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601200" y="7381577"/>
            <a:ext cx="21717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925300" y="7353002"/>
            <a:ext cx="561174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Characterisation of the wake with quantified uncertainty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601200" y="8225433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0" y="8396883"/>
            <a:ext cx="23050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925300" y="8368308"/>
            <a:ext cx="59931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field, Strouhal number, force coefficients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5B64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validation framework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3616672"/>
            <a:ext cx="9646890" cy="28575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3207097"/>
            <a:ext cx="9936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NUMERICAL · PHOENICS PIPE 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42290" y="3616672"/>
            <a:ext cx="6431310" cy="28575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0942290" y="3207097"/>
            <a:ext cx="6624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EXPERIMENTAL · FLUME, CIRCULAR CYLINDER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359622"/>
            <a:ext cx="16459200" cy="19050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14400" y="4178647"/>
            <a:ext cx="381000" cy="3810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76300" y="417864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750147"/>
            <a:ext cx="3285679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sensitivity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5334967"/>
            <a:ext cx="328567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profile difference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282380" y="4178647"/>
            <a:ext cx="381000" cy="3810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244280" y="417864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82380" y="4750147"/>
            <a:ext cx="3076667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verification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282380" y="5729288"/>
            <a:ext cx="307666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Poiseuille profile and pressure gradient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50435" y="4178647"/>
            <a:ext cx="381000" cy="3810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612335" y="417864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50435" y="4750147"/>
            <a:ext cx="3285760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650435" y="5334967"/>
            <a:ext cx="307666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RMSE and friction factor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018490" y="4178647"/>
            <a:ext cx="381000" cy="381000"/>
          </a:xfrm>
          <a:prstGeom prst="ellipse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0980390" y="417864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018490" y="4750147"/>
            <a:ext cx="3076667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calibration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1018490" y="5729288"/>
            <a:ext cx="328576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residual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4386545" y="4178647"/>
            <a:ext cx="381000" cy="381000"/>
          </a:xfrm>
          <a:prstGeom prst="ellipse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4348445" y="417864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386545" y="4750147"/>
            <a:ext cx="3076667" cy="122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characterisation and uncertainty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4386545" y="6123608"/>
            <a:ext cx="307666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Strouhal number and force coefficients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14400" y="7350398"/>
            <a:ext cx="164592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14400" y="7626623"/>
            <a:ext cx="538932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does the solver reproduce a known solution?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527750" y="7626623"/>
            <a:ext cx="538939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does the model reproduce measurements?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141175" y="7626623"/>
            <a:ext cx="538932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sensitivity 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necessary, but not proof of physical accuracy.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3399979"/>
            <a:ext cx="157162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000" b="1" kern="0" spc="-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flow CFD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4847779"/>
            <a:ext cx="14716125" cy="102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sensitivity, analytical verification of laminar flow, and validation of four </a:t>
            </a:r>
            <a:r>
              <a:rPr lang="en-US" sz="2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against turbulent pipe measurements.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143000" y="7977188"/>
            <a:ext cx="16002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43000" y="8262938"/>
            <a:ext cx="294213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Numerical setup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274865" y="8262938"/>
            <a:ext cx="24518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Laminar grid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60989" y="8262938"/>
            <a:ext cx="27786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Turbulent grid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44249" y="8262938"/>
            <a:ext cx="35959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Laminar development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670459" y="8262938"/>
            <a:ext cx="343252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Poiseuille profile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8734425"/>
            <a:ext cx="326906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Pressure gradient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74" y="8734425"/>
            <a:ext cx="392284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Turbulent development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595494" y="8734425"/>
            <a:ext cx="35959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Turbulent structure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321704" y="8734425"/>
            <a:ext cx="24518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Wall scaling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9205913"/>
            <a:ext cx="343252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Profile validation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720679" y="9205913"/>
            <a:ext cx="294213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Friction factor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setup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3826371"/>
            <a:ext cx="3322290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3416796"/>
            <a:ext cx="34219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36690" y="3826371"/>
            <a:ext cx="1958727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279900" y="3416796"/>
            <a:ext cx="1727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95417" y="3826371"/>
            <a:ext cx="2491383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540500" y="3416796"/>
            <a:ext cx="2032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Turbulent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445496"/>
            <a:ext cx="332229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009650" y="3940671"/>
            <a:ext cx="323145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Diameter 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4236690" y="4445496"/>
            <a:ext cx="195872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279900" y="3940671"/>
            <a:ext cx="1727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 m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195417" y="4445496"/>
            <a:ext cx="2491383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540500" y="3940671"/>
            <a:ext cx="2032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 m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5093196"/>
            <a:ext cx="332229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09650" y="4550271"/>
            <a:ext cx="3231459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velocity 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875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236690" y="5093196"/>
            <a:ext cx="195872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279900" y="4550271"/>
            <a:ext cx="172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 m/s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6195417" y="5093196"/>
            <a:ext cx="2491383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540500" y="4550271"/>
            <a:ext cx="20320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 m/s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400" y="5750421"/>
            <a:ext cx="332229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09650" y="5197971"/>
            <a:ext cx="323145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 viscosity 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4236690" y="5750421"/>
            <a:ext cx="195872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279900" y="5197971"/>
            <a:ext cx="1727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3.5·10</a:t>
            </a:r>
            <a:r>
              <a:rPr lang="en-US" sz="1875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 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1875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6195417" y="5750421"/>
            <a:ext cx="2491383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540500" y="5197971"/>
            <a:ext cx="203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875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 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1875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14400" y="5759946"/>
            <a:ext cx="7772400" cy="647700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914400" y="6398121"/>
            <a:ext cx="332229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009650" y="5855196"/>
            <a:ext cx="3231459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1875" b="1" baseline="-400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2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225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875" b="1" baseline="-400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225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22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25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4236690" y="6398121"/>
            <a:ext cx="195872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279900" y="5855196"/>
            <a:ext cx="172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192.9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6195417" y="6398121"/>
            <a:ext cx="2491383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540500" y="5855196"/>
            <a:ext cx="20320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914400" y="7002959"/>
            <a:ext cx="332229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1009650" y="6502896"/>
            <a:ext cx="323145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4236690" y="7002959"/>
            <a:ext cx="195872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279900" y="6502896"/>
            <a:ext cx="172720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6195417" y="7002959"/>
            <a:ext cx="2491383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540500" y="6502896"/>
            <a:ext cx="203200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25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k–</a:t>
            </a:r>
            <a:r>
              <a:rPr lang="el-GR" sz="225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25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914400" y="7283946"/>
            <a:ext cx="8005572" cy="109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Axisymmetric pipe solved with PHOENICS. Turbulent closures: standard, RNG, realisable and low-Re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comparison is specific to the implemented grids and wall treatments.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9601200" y="3392835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9601200" y="3554760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sensitivity, successive grids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601200" y="3954810"/>
            <a:ext cx="8005572" cy="57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2000" i="1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2000" i="1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‖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r>
              <a:rPr lang="en-US" sz="2000" i="1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000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r>
              <a:rPr lang="en-US" sz="2000" i="1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‖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r>
              <a:rPr lang="en-US" sz="2000" i="1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9601200" y="4717405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9601200" y="4879330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flow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601200" y="5279380"/>
            <a:ext cx="8005572" cy="57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‖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− 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)‖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‖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10</a:t>
            </a:r>
            <a:r>
              <a:rPr lang="en-US" sz="2000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9601200" y="6041975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9601200" y="6203900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Darcy friction factor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601200" y="6603950"/>
            <a:ext cx="8005572" cy="57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ρW</a:t>
            </a:r>
            <a:r>
              <a:rPr lang="en-US" sz="2000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2000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9601200" y="7366546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9601200" y="7528471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validation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601200" y="7928521"/>
            <a:ext cx="85496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RMSE on experimental radial coordinates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Laminar grid: medium–fine differences below 1%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5982" b="-5982"/>
          <a:stretch/>
        </p:blipFill>
        <p:spPr>
          <a:xfrm>
            <a:off x="914400" y="1891605"/>
            <a:ext cx="16459200" cy="59677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106966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8459391"/>
            <a:ext cx="5337048" cy="144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grids per path. Radial and combined: velocity profile at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0.8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Axial: pressure at half radius. Coarse result interpolated onto the finer grid.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6553200" y="8106966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53200" y="8459391"/>
            <a:ext cx="5337048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2.36 → 0.52%, axial 0.41 → 0.23%, combined 1.44 → 0.93%. No change in shape and no spurious oscillations.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2192000" y="8106966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192000" y="8459391"/>
            <a:ext cx="5337048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finest grid is retained. Pairwise differences, not a formal GCI: the refinement ratio is not uniform across directions.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Turbulent grid: lower sensitivity than the laminar case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6072" b="-6072"/>
          <a:stretch/>
        </p:blipFill>
        <p:spPr>
          <a:xfrm>
            <a:off x="914400" y="1891605"/>
            <a:ext cx="16459200" cy="59772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116491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8468916"/>
            <a:ext cx="5337048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10 / 25 / 50 cells, axial 100 / 150 / 200 cells, combined 10×100 → 25×250.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6553200" y="8116491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53200" y="8468916"/>
            <a:ext cx="5337048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Medium–fine differences 0.24% radial, 0.13% axial, 0.37% combined. Residual differences concentrate near the wall.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2192000" y="8116491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192000" y="8468916"/>
            <a:ext cx="5337048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tested refinements produce small profile changes. Model differences are interpreted for these grids and wall treatments.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Laminar entry length depends on its definition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2565" b="-12565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393802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3746227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axial station where the full profile is within 0.1% of the last interior profile.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482411" y="4693369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482411" y="4893394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0.0575 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82411" y="5255344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1.663 </a:t>
            </a:r>
            <a:r>
              <a:rPr lang="en-US" sz="19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4099456" y="4893394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Numerical, 0.1% criterion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099456" y="5255344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2.113 </a:t>
            </a:r>
            <a:r>
              <a:rPr lang="en-US" sz="195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0482411" y="5963989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82411" y="6316414"/>
            <a:ext cx="7097924" cy="78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Centreline velocity tends to 2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profile distance decreases monotonically.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0482411" y="7313786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482411" y="7666211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27% gap reflects the strict full-profile threshold and discrete axial sampling. The asymptotic state is correct.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profile matches Poiseuille within 3.2%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4057" b="-14057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198168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3550593"/>
            <a:ext cx="7097924" cy="476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2[1 − (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482411" y="4236318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482411" y="4436343"/>
            <a:ext cx="36015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</a:t>
            </a: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82411" y="4834458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3.18%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4099456" y="4436343"/>
            <a:ext cx="36015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Reconstructed 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099456" y="4834458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0.4523 </a:t>
            </a:r>
            <a:r>
              <a:rPr lang="en-US" sz="19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m/s · 0.51%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0482411" y="5543104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82580" y="5944870"/>
            <a:ext cx="7098030" cy="105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>
                <a:solidFill>
                  <a:srgbClr val="1A1D21"/>
                </a:solidFill>
                <a:latin typeface="Arial" pitchFamily="34" charset="0"/>
                <a:cs typeface="Arial" pitchFamily="34" charset="-120"/>
              </a:rPr>
              <a:t>The largest differences occur near the wall, where the computed radial profile is steep.</a:t>
            </a:r>
            <a:endParaRPr lang="en-US" sz="2025" dirty="0">
              <a:solidFill>
                <a:srgbClr val="1A1D2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482580" y="7302500"/>
            <a:ext cx="7580630" cy="332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108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482580" y="7721600"/>
            <a:ext cx="7098030" cy="142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computed profile agrees closely with Poiseuille flow on the tested mesh. The remaining local error has not been isolated.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gradient matches the analytical value within 1.24%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9088" b="-19088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525813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3878238"/>
            <a:ext cx="7097924" cy="873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Area-weighted pressure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p̄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(2/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)∫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r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least-squares slope over the developed stations. Reference −32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μW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482411" y="4961334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482411" y="5161359"/>
            <a:ext cx="2275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82411" y="5523309"/>
            <a:ext cx="227525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−203.84 </a:t>
            </a:r>
            <a:r>
              <a:rPr lang="en-US" sz="19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Pa/m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2893725" y="5161359"/>
            <a:ext cx="22753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93725" y="5523309"/>
            <a:ext cx="2275336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−201.32 </a:t>
            </a:r>
            <a:r>
              <a:rPr lang="en-US" sz="19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Pa/m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5305112" y="5161359"/>
            <a:ext cx="2275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305112" y="5523309"/>
            <a:ext cx="227525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1.24%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10482411" y="6231954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482411" y="6584379"/>
            <a:ext cx="7580308" cy="387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becomes linear once inlet development is complete.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10482411" y="7181776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482411" y="7534201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integral momentum balance and the implied wall shear are verified independently of the profile.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Turbulent flow: the centreline converges before the profile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5113" b="-25113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482411" y="3872359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0482411" y="4072384"/>
            <a:ext cx="337236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1.359 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Re</a:t>
            </a:r>
            <a:r>
              <a:rPr lang="en-US" sz="1500" baseline="3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82411" y="4477196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2.249 </a:t>
            </a:r>
            <a:r>
              <a:rPr lang="en-US" sz="19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4099456" y="4072384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Full-profile 0.1% criterion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099456" y="4434334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9.85 </a:t>
            </a:r>
            <a:r>
              <a:rPr lang="en-US" sz="195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0482411" y="5185842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482411" y="5538267"/>
            <a:ext cx="7097924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Centreline velocity stabilises early; the full radial profile keeps changing weakly downstream. Pressure decreases linearly once developed.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10482411" y="6835155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82411" y="7187580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turbulent entry length is not unique: it depends on the observable and on the threshold used to define it.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turbulent field: flat core, active wall region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6709" b="-16709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711848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4111512"/>
            <a:ext cx="7097924" cy="107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velocity, eddy-viscosity ratio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turbulent kinetic energy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dissipation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developed region, standard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0482411" y="5252784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82411" y="5652448"/>
            <a:ext cx="7097924" cy="109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 profile is flatter than the laminar parabola.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towards the wall, consistent with shear production. Symmetry about the axis is preserved.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0482411" y="6815600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82411" y="7215262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physically consistent before any comparison with measured data.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scaling: the profile crosses the logarithmic range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3509" b="-13509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329508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3681933"/>
            <a:ext cx="7097924" cy="825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u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Compared with viscous and logarithmic laws.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482411" y="4717405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482411" y="4917430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velocity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82411" y="5279380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0.03654 </a:t>
            </a:r>
            <a:r>
              <a:rPr lang="en-US" sz="19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m/s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4099456" y="4917430"/>
            <a:ext cx="337236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plotted 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US" sz="1500" baseline="3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099456" y="5322243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1699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0482411" y="6030888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82411" y="6383313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computed profile follows the logarithmic law over the resolved range.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0482411" y="7330455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482411" y="7682880"/>
            <a:ext cx="7097924" cy="785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wall-to-axis distance. The near-wall resolution cannot be reconstructed from the compact exports.</a:t>
            </a:r>
            <a:endParaRPr lang="en-US" sz="20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closures reproduce the measured profile shape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7469" b="-17469"/>
          <a:stretch/>
        </p:blipFill>
        <p:spPr>
          <a:xfrm>
            <a:off x="914400" y="1891605"/>
            <a:ext cx="8477622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01622" y="3183434"/>
            <a:ext cx="81090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01622" y="3535859"/>
            <a:ext cx="7593061" cy="78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profiles interpolated to the experimental radial coordinates; normalised RMSE against two measured series at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75,000.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001622" y="4942805"/>
            <a:ext cx="4373687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001622" y="4533230"/>
            <a:ext cx="450489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375309" y="4942805"/>
            <a:ext cx="2998217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4285362" y="4533230"/>
            <a:ext cx="30881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RMSE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001622" y="4961855"/>
            <a:ext cx="7371904" cy="581025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10001622" y="5533355"/>
            <a:ext cx="437368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0096872" y="5057105"/>
            <a:ext cx="43143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</a:t>
            </a:r>
            <a:r>
              <a:rPr lang="en-US" sz="210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4375309" y="5533355"/>
            <a:ext cx="299821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4380612" y="5057105"/>
            <a:ext cx="289766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0.0158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0001622" y="6109618"/>
            <a:ext cx="437368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10096872" y="5638130"/>
            <a:ext cx="4314397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RNG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4375309" y="6109618"/>
            <a:ext cx="299821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4380612" y="5638130"/>
            <a:ext cx="289766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0.0166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0001622" y="6685880"/>
            <a:ext cx="437368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0096872" y="6214393"/>
            <a:ext cx="4314397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Realisable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4375309" y="6685880"/>
            <a:ext cx="299821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14380612" y="6214393"/>
            <a:ext cx="289766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0.0195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0001622" y="7262143"/>
            <a:ext cx="437368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10096872" y="6790655"/>
            <a:ext cx="4314397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4375309" y="7262143"/>
            <a:ext cx="299821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14380612" y="6790655"/>
            <a:ext cx="289766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0.0214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0001622" y="7524080"/>
            <a:ext cx="81090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001622" y="7876505"/>
            <a:ext cx="7593061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spans only 0.016–0.021: profile shape alone weakly discriminates between closures. Wall friction is needed.</a:t>
            </a:r>
            <a:endParaRPr lang="en-US" sz="20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38171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INTERNAL FLOW · CFD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friction discriminates between the closures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8039" b="-28039"/>
          <a:stretch/>
        </p:blipFill>
        <p:spPr>
          <a:xfrm>
            <a:off x="914400" y="1891605"/>
            <a:ext cx="8477622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01622" y="2893442"/>
            <a:ext cx="81090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experiment 0.0190 · Prandtl 0.01912 · Haaland 0.01895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0001622" y="3903092"/>
            <a:ext cx="3280321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0001622" y="3493517"/>
            <a:ext cx="33787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281943" y="3903092"/>
            <a:ext cx="1917278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3205743" y="3493517"/>
            <a:ext cx="19934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5199221" y="3903092"/>
            <a:ext cx="2174304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5123021" y="3493517"/>
            <a:ext cx="22505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vs exp.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001622" y="3922142"/>
            <a:ext cx="7371904" cy="581025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10001622" y="4493642"/>
            <a:ext cx="328032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0096872" y="4017392"/>
            <a:ext cx="31882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</a:t>
            </a:r>
            <a:r>
              <a:rPr lang="en-US" sz="210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3281943" y="4493642"/>
            <a:ext cx="191727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3205743" y="4017392"/>
            <a:ext cx="19934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0.018984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15199221" y="4493642"/>
            <a:ext cx="2174304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15218271" y="4017392"/>
            <a:ext cx="20600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0.082%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0001622" y="5069904"/>
            <a:ext cx="328032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10096872" y="4598417"/>
            <a:ext cx="318823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RNG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3281943" y="5069904"/>
            <a:ext cx="191727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13205743" y="4598417"/>
            <a:ext cx="199347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0.018403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5199221" y="5069904"/>
            <a:ext cx="2174304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15218271" y="4598417"/>
            <a:ext cx="206000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3.14%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001622" y="5646167"/>
            <a:ext cx="328032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10096872" y="5174679"/>
            <a:ext cx="318823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Realisable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3281943" y="5646167"/>
            <a:ext cx="191727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13205743" y="5174679"/>
            <a:ext cx="199347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0.017853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5199221" y="5646167"/>
            <a:ext cx="2174304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15218271" y="5174679"/>
            <a:ext cx="206000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6.04%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10001622" y="6222429"/>
            <a:ext cx="328032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10096872" y="5750942"/>
            <a:ext cx="318823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 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13281943" y="6222429"/>
            <a:ext cx="191727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13205743" y="5750942"/>
            <a:ext cx="199347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0.021688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15199221" y="6222429"/>
            <a:ext cx="2174304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15218271" y="5750942"/>
            <a:ext cx="206000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14.15%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10001622" y="6484367"/>
            <a:ext cx="81090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0001249" y="6836410"/>
            <a:ext cx="7593330" cy="11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low-Re closure overpredicts wall friction on this grid. Its sensitivity to near-wall resolution requires a dedicated refinement study.</a:t>
            </a:r>
            <a:endParaRPr lang="en-US" sz="2025" dirty="0"/>
          </a:p>
        </p:txBody>
      </p:sp>
      <p:sp>
        <p:nvSpPr>
          <p:cNvPr id="41" name="Text 38"/>
          <p:cNvSpPr/>
          <p:nvPr/>
        </p:nvSpPr>
        <p:spPr>
          <a:xfrm>
            <a:off x="10001249" y="8254999"/>
            <a:ext cx="759333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k–ε gives the smallest friction and profile errors for the grids and wall treatments tested.</a:t>
            </a:r>
            <a:endParaRPr lang="en-US" sz="21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7A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II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3404741"/>
            <a:ext cx="157162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000" b="1" kern="0" spc="-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 wake experiment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4852541"/>
            <a:ext cx="14716125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of the measurement chain, then the wake through its velocity field, its forces and their uncertainty.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143000" y="7977188"/>
            <a:ext cx="16002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43000" y="8262938"/>
            <a:ext cx="343252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Experimental setup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720679" y="8262938"/>
            <a:ext cx="392284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Load-cell calibration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744099" y="8262938"/>
            <a:ext cx="392284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Calibration stability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767518" y="8262938"/>
            <a:ext cx="196142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Mean wake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8734425"/>
            <a:ext cx="26152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Wake recovery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977729" y="8734425"/>
            <a:ext cx="27786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Probe spectrum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60989" y="8734425"/>
            <a:ext cx="310559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Vorticity phases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241459" y="8734425"/>
            <a:ext cx="294213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Cylinder forces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373323" y="8734425"/>
            <a:ext cx="26152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Lift spectrum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9205913"/>
            <a:ext cx="343252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Uncertainty budget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595116"/>
            <a:ext cx="8340090" cy="397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cylinder,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0.06 m, in a 0.50 m wide open channel.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14400" y="3611612"/>
            <a:ext cx="2731889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14400" y="3202037"/>
            <a:ext cx="28138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46289" y="3611612"/>
            <a:ext cx="2638276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567141" y="3202037"/>
            <a:ext cx="271742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PSV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84565" y="3611612"/>
            <a:ext cx="2211735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208365" y="3202037"/>
            <a:ext cx="22879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202162"/>
            <a:ext cx="27318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09650" y="3725912"/>
            <a:ext cx="26233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rate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646289" y="4202162"/>
            <a:ext cx="263827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567141" y="3725912"/>
            <a:ext cx="27174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L/s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284565" y="4202162"/>
            <a:ext cx="221173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303615" y="3725912"/>
            <a:ext cx="20974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L/s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4778425"/>
            <a:ext cx="27318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009650" y="4306937"/>
            <a:ext cx="262334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depth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646289" y="4778425"/>
            <a:ext cx="263827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567141" y="4306937"/>
            <a:ext cx="271742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 m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284565" y="4778425"/>
            <a:ext cx="221173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303615" y="4306937"/>
            <a:ext cx="209743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 m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400" y="4787950"/>
            <a:ext cx="7581900" cy="62001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914400" y="5398443"/>
            <a:ext cx="27318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009650" y="4883200"/>
            <a:ext cx="2623346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velocity </a:t>
            </a:r>
            <a:r>
              <a:rPr lang="en-US" sz="210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750" b="1" baseline="-400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3646289" y="5398443"/>
            <a:ext cx="263827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567141" y="4883200"/>
            <a:ext cx="2717424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0.1667 m/s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284565" y="5398443"/>
            <a:ext cx="221173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303615" y="4883200"/>
            <a:ext cx="2097435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0.3333 m/s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14400" y="5974705"/>
            <a:ext cx="27318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1009650" y="5503218"/>
            <a:ext cx="262334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rate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3646289" y="5974705"/>
            <a:ext cx="263827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3567141" y="5503218"/>
            <a:ext cx="271742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Hz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284565" y="5974705"/>
            <a:ext cx="221173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303615" y="5503218"/>
            <a:ext cx="209743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Hz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14400" y="6550968"/>
            <a:ext cx="27318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1009650" y="6079480"/>
            <a:ext cx="262334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3646289" y="6550968"/>
            <a:ext cx="263827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3567141" y="6079480"/>
            <a:ext cx="271742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1499 fields, 23×30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6284565" y="6550968"/>
            <a:ext cx="221173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303615" y="6079480"/>
            <a:ext cx="209743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0.185 m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14400" y="6812905"/>
            <a:ext cx="8340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PSV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4400" y="7165330"/>
            <a:ext cx="7809357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Particle-shadow velocimetry: pixel displacements converted at 3040 px/m, local velocity field in the cylinder frame.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914400" y="8112472"/>
            <a:ext cx="8340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8464897"/>
            <a:ext cx="7809357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load cell: span-integrated drag and lift, buoyancy removed with a still-water record.</a:t>
            </a:r>
            <a:endParaRPr lang="en-US" sz="2025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00" y="3403253"/>
            <a:ext cx="81915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cell: linear transfer function over −10.5 to 13.8 N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8779" r="-8779"/>
          <a:stretch/>
        </p:blipFill>
        <p:spPr>
          <a:xfrm>
            <a:off x="914400" y="1891605"/>
            <a:ext cx="8001000" cy="49734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009" r="-1009"/>
          <a:stretch/>
        </p:blipFill>
        <p:spPr>
          <a:xfrm>
            <a:off x="9372600" y="1891605"/>
            <a:ext cx="8001000" cy="4973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7112719"/>
            <a:ext cx="164592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914400" y="7312744"/>
            <a:ext cx="4243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7674694"/>
            <a:ext cx="4243388" cy="531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−4.078·10</a:t>
            </a:r>
            <a:r>
              <a:rPr lang="en-US" sz="2500" b="1" baseline="300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 </a:t>
            </a:r>
            <a:r>
              <a:rPr lang="en-US" sz="19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V/N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5114925" y="7312744"/>
            <a:ext cx="397335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500" baseline="3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114925" y="7717557"/>
            <a:ext cx="42433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0.9999988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315450" y="7312744"/>
            <a:ext cx="4243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RMSE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315450" y="7674694"/>
            <a:ext cx="42433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0.00572 </a:t>
            </a:r>
            <a:r>
              <a:rPr lang="en-US" sz="195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13515975" y="7312744"/>
            <a:ext cx="4243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residual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3515975" y="7674694"/>
            <a:ext cx="42433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0.01398 </a:t>
            </a:r>
            <a:r>
              <a:rPr lang="en-US" sz="195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914400" y="8416007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914400" y="8768080"/>
            <a:ext cx="4953000" cy="127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195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Sixteen static loads at 100 Hz. Fit V = SF + V₀ using the last 30% of each record.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6553200" y="8416007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731000" y="8768080"/>
            <a:ext cx="5080000" cy="127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195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sign-dependent slope or visible curvature. Largest residual near −0.41 N.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12192000" y="8416007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2192000" y="8768080"/>
            <a:ext cx="5336540" cy="127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relative to mean drag (0.92 N), but comparable to mean lift (−0.017 N).</a:t>
            </a:r>
            <a:endParaRPr lang="en-US" sz="20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loads need long records to settle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5794" b="-15794"/>
          <a:stretch/>
        </p:blipFill>
        <p:spPr>
          <a:xfrm>
            <a:off x="914400" y="1891605"/>
            <a:ext cx="910508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29081" y="3021806"/>
            <a:ext cx="7418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29081" y="3374231"/>
            <a:ext cx="7418970" cy="387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mean within a 2% band of the final level.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629081" y="4381202"/>
            <a:ext cx="3388072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629081" y="3971627"/>
            <a:ext cx="34897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load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017154" y="4381202"/>
            <a:ext cx="3356446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3916460" y="3971627"/>
            <a:ext cx="34571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Settling time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629081" y="4400252"/>
            <a:ext cx="6744519" cy="581025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10629081" y="4971752"/>
            <a:ext cx="3388072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0724331" y="4495502"/>
            <a:ext cx="32992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N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4017154" y="4971752"/>
            <a:ext cx="335644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4011710" y="4495502"/>
            <a:ext cx="32666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25.99 s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0629081" y="5548015"/>
            <a:ext cx="3388072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10724331" y="5076527"/>
            <a:ext cx="329921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≤ 0.41 N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4017154" y="5548015"/>
            <a:ext cx="335644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4011710" y="5076527"/>
            <a:ext cx="326664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11.9–21.0 s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0629081" y="6124277"/>
            <a:ext cx="3388072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0724331" y="5652790"/>
            <a:ext cx="329921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21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≥ 0.70 N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4017154" y="6124277"/>
            <a:ext cx="3356446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14011710" y="5652790"/>
            <a:ext cx="326664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0.49 s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0629081" y="6386215"/>
            <a:ext cx="7418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629081" y="6738640"/>
            <a:ext cx="694685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loads settle almost immediately; near zero, drift and noise are comparable with the signal.</a:t>
            </a:r>
            <a:endParaRPr lang="en-US" sz="2025" dirty="0"/>
          </a:p>
        </p:txBody>
      </p:sp>
      <p:sp>
        <p:nvSpPr>
          <p:cNvPr id="28" name="Text 25"/>
          <p:cNvSpPr/>
          <p:nvPr/>
        </p:nvSpPr>
        <p:spPr>
          <a:xfrm>
            <a:off x="10629081" y="7685782"/>
            <a:ext cx="7418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0629081" y="8038207"/>
            <a:ext cx="694685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Justifies the last-30% window and sets the practical limit for interpreting mean lift.</a:t>
            </a:r>
            <a:endParaRPr lang="en-US" sz="2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wake: velocity deficit bounded by separated shear layers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9152" b="-9152"/>
          <a:stretch/>
        </p:blipFill>
        <p:spPr>
          <a:xfrm>
            <a:off x="914400" y="1891605"/>
            <a:ext cx="9105081" cy="79762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29081" y="3377357"/>
            <a:ext cx="674451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0629081" y="3577382"/>
            <a:ext cx="35208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Reynolds number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29081" y="3939332"/>
            <a:ext cx="3520849" cy="582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2750" b="1" baseline="-400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</a:t>
            </a: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9980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4172754" y="3577382"/>
            <a:ext cx="35209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velocity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2754" y="3939332"/>
            <a:ext cx="3520931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0.1667 </a:t>
            </a:r>
            <a:r>
              <a:rPr lang="en-US" sz="19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m/s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0629081" y="4731097"/>
            <a:ext cx="7418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29081" y="5083522"/>
            <a:ext cx="694685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average of 1499 PSV fields. Invalid vectors omitted, cylinder interior masked, no spatial interpolation.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10629081" y="6030664"/>
            <a:ext cx="7418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629081" y="6383089"/>
            <a:ext cx="6946854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Streamwise velocity drops behind the cylinder and a deficit forms around the centreline. Vectors show transverse motion from the shear layers.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0629081" y="7679978"/>
            <a:ext cx="7418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629081" y="8032403"/>
            <a:ext cx="7418970" cy="387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regions with few valid vectors are not interpreted.</a:t>
            </a:r>
            <a:endParaRPr lang="en-US" sz="20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Streamwise recovery of the mean velocity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6435" b="-16435"/>
          <a:stretch/>
        </p:blipFill>
        <p:spPr>
          <a:xfrm>
            <a:off x="914400" y="1891605"/>
            <a:ext cx="8645203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9203" y="3879354"/>
            <a:ext cx="79248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69203" y="4231779"/>
            <a:ext cx="7420529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profiles of mean streamwise velocity at four downstream stations.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0169203" y="5178921"/>
            <a:ext cx="79248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169203" y="5531346"/>
            <a:ext cx="7420529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deficit and cross-stream variation occur in the near wake. Profiles smooth out downstream as momentum is redistributed.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0169203" y="6828234"/>
            <a:ext cx="79248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169203" y="7180659"/>
            <a:ext cx="7420529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of view is too short to establish a self-similar far-wake regime.</a:t>
            </a:r>
            <a:endParaRPr lang="en-US" sz="20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spectrum: one dominant frequency, St = 0.204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9298" b="-19298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177034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3529459"/>
            <a:ext cx="7097924" cy="109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Transverse velocity at the valid grid point nearest to</a:t>
            </a:r>
          </a:p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(0.25, 0), i.e. (0.288, −0.057). Gaps interpolated in time; peak searched in 0.2–10 Hz.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482411" y="4835872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482411" y="5035897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frequency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82411" y="5397847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0.567 </a:t>
            </a:r>
            <a:r>
              <a:rPr lang="en-US" sz="195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Hz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4099456" y="5035897"/>
            <a:ext cx="36015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</a:t>
            </a: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099456" y="5434013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0.204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0482411" y="6142658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82411" y="6495083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peak well above the broadband level over a 30 s record at 50 Hz.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0482411" y="7442225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482411" y="7794650"/>
            <a:ext cx="7097924" cy="825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with periodic shedding behind a circular cylinder at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Vorticity phases: alternating vortices convected downstream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3676" r="-43676"/>
          <a:stretch/>
        </p:blipFill>
        <p:spPr>
          <a:xfrm>
            <a:off x="914400" y="1891605"/>
            <a:ext cx="16459200" cy="63269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466237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8818662"/>
            <a:ext cx="5337048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frames separated by a quarter of the identified period, from a moving-average filtered sequence.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6553200" y="8466237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53200" y="8818662"/>
            <a:ext cx="5337048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 signed structures form behind the cylinder and are convected through the measurement region.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2192000" y="8466237"/>
            <a:ext cx="5699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192000" y="8818662"/>
            <a:ext cx="5337048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counterpart of the spectral peak. Topology only: no ensemble phase average, amplitudes not interpreted.</a:t>
            </a:r>
            <a:endParaRPr lang="en-US" sz="20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drag coefficient 1.50; mean lift close to zero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3988" b="-23988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028578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3381003"/>
            <a:ext cx="7097924" cy="825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(½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ρU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0.185 m. Lift corrected for buoyancy with the still-water record.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482411" y="4416475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482411" y="4616500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drag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82411" y="4978450"/>
            <a:ext cx="36015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0.9223 </a:t>
            </a:r>
            <a:r>
              <a:rPr lang="en-US" sz="19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4099456" y="4616500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lift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099456" y="4978450"/>
            <a:ext cx="36015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−0.0172 </a:t>
            </a:r>
            <a:r>
              <a:rPr lang="en-US" sz="19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0482411" y="5664250"/>
            <a:ext cx="36015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C̅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82411" y="6062365"/>
            <a:ext cx="36015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1.4987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4099456" y="5664250"/>
            <a:ext cx="36015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C̅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099456" y="6062365"/>
            <a:ext cx="36015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−0.0280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0482411" y="6729115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482411" y="7081540"/>
            <a:ext cx="7580308" cy="387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fluctuates about a positive mean; lift oscillates about zero.</a:t>
            </a:r>
            <a:endParaRPr lang="en-US" sz="2025" dirty="0"/>
          </a:p>
        </p:txBody>
      </p:sp>
      <p:sp>
        <p:nvSpPr>
          <p:cNvPr id="20" name="Text 17"/>
          <p:cNvSpPr/>
          <p:nvPr/>
        </p:nvSpPr>
        <p:spPr>
          <a:xfrm>
            <a:off x="10482411" y="7678936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482411" y="8031361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non-zero mean lift alone is not evidence of physical asymmetry.</a:t>
            </a:r>
            <a:endParaRPr lang="en-US" sz="20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spectrum: shedding at St = 0.181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8316" b="-18316"/>
          <a:stretch/>
        </p:blipFill>
        <p:spPr>
          <a:xfrm>
            <a:off x="914400" y="1891605"/>
            <a:ext cx="8958411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2411" y="3393802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82411" y="3746227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One-sided amplitude spectrum of the corrected lift after mean removal, 200 Hz.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0482411" y="4693369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LIFT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82411" y="5045794"/>
            <a:ext cx="7097924" cy="78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 shedding forces the cylinder cross-stream at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drag responds mainly at the mean and at even harmonics.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10482411" y="6043166"/>
            <a:ext cx="6891189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0482411" y="6243191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Shedding frequency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482411" y="6605141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1.006 </a:t>
            </a:r>
            <a:r>
              <a:rPr lang="en-US" sz="195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Hz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4099456" y="6243191"/>
            <a:ext cx="36015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099456" y="6605141"/>
            <a:ext cx="360155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0.181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10482411" y="7313786"/>
            <a:ext cx="75803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482411" y="7666211"/>
            <a:ext cx="7097924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narrow peak indicates a coherent periodic component, measured independently of the velocity field.</a:t>
            </a:r>
            <a:endParaRPr lang="en-US" sz="20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51449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CYLINDER WAKE · EXPERIMENT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measurement dominates the uncertainty budget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7287" b="-27287"/>
          <a:stretch/>
        </p:blipFill>
        <p:spPr>
          <a:xfrm>
            <a:off x="914400" y="1891605"/>
            <a:ext cx="8805267" cy="7976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29267" y="2960787"/>
            <a:ext cx="77487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29267" y="3313212"/>
            <a:ext cx="7255663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First-order propagation, root sum of squares of independent contributions (assumptions in appendix A2).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329267" y="4260354"/>
            <a:ext cx="7044333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329267" y="4460379"/>
            <a:ext cx="368578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329267" y="4858494"/>
            <a:ext cx="3685788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0.0756 </a:t>
            </a:r>
            <a:r>
              <a:rPr lang="en-US" sz="19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5.0%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4022884" y="4460379"/>
            <a:ext cx="368578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500" baseline="-40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022884" y="4858494"/>
            <a:ext cx="3685788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902"/>
              </a:lnSpc>
              <a:buNone/>
            </a:pPr>
            <a:r>
              <a:rPr lang="en-US" sz="3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0.0574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0329267" y="5586189"/>
            <a:ext cx="3685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mm level mismatch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329267" y="5948139"/>
            <a:ext cx="3685788" cy="53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3000" b="1" i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2500" b="1" baseline="-4000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r>
              <a:rPr lang="en-US" sz="3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0.0229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0329267" y="6692652"/>
            <a:ext cx="77487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329267" y="7045077"/>
            <a:ext cx="7255663" cy="825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52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measurement dominates both coefficients. Velocity is next for drag, since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∝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10329267" y="8080549"/>
            <a:ext cx="7255663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 lift is smaller than its uncertainty: it is compatible with zero.</a:t>
            </a:r>
            <a:endParaRPr lang="en-US" sz="21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A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4120530"/>
            <a:ext cx="157162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000" b="1" kern="0" spc="-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supports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5568330"/>
            <a:ext cx="157162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Cross-comparison of independent estimates, conclusions and the range over which they hold.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143000" y="8920163"/>
            <a:ext cx="16002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43000" y="9205913"/>
            <a:ext cx="35959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Strouhal comparison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869210" y="9205913"/>
            <a:ext cx="228835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Conclusions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406729" y="9205913"/>
            <a:ext cx="572079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Range of validity and extensions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5B64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14936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Strouhal estimates, one shedding regime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4309170"/>
            <a:ext cx="3657600" cy="381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4537770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PSV · LOCAL VELOCITY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947345"/>
            <a:ext cx="40233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878"/>
              </a:lnSpc>
              <a:buNone/>
            </a:pPr>
            <a:r>
              <a:rPr lang="en-US" sz="7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0.204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6121400"/>
            <a:ext cx="4023360" cy="435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0.567 Hz at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0.167 m/s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5029200" y="4309170"/>
            <a:ext cx="3657600" cy="38100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029200" y="4537770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CELL · LIFT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4947345"/>
            <a:ext cx="40233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878"/>
              </a:lnSpc>
              <a:buNone/>
            </a:pPr>
            <a:r>
              <a:rPr lang="en-US" sz="72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0.181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029200" y="6121400"/>
            <a:ext cx="4023360" cy="435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1.006 Hz at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688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0.333 m/s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14400" y="7010400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14400" y="7188200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|Δ</a:t>
            </a:r>
            <a:r>
              <a:rPr lang="en-US" sz="240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= </a:t>
            </a:r>
            <a:r>
              <a:rPr lang="en-US" sz="2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0.023</a:t>
            </a: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force estimate 11.3% below PSV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3930030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108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DIFFERENCES BETWEEN THE ACQUISITIONS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601200" y="4453905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601200" y="4596780"/>
            <a:ext cx="5334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134600" y="4596780"/>
            <a:ext cx="79629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velocity doubles between the two acquisitions.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601200" y="5211142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601200" y="5354017"/>
            <a:ext cx="5334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134600" y="5354017"/>
            <a:ext cx="79629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depth changes from 0.42 to 0.45 m.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601200" y="5968380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601200" y="6111255"/>
            <a:ext cx="5334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134600" y="6111255"/>
            <a:ext cx="74561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estimators differ: local transverse velocity against span-integrated force.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601200" y="7111380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estimates indicate the same shedding regime, but the tests were conducted under different flow conditions.</a:t>
            </a:r>
            <a:endParaRPr lang="en-US" sz="21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5B64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14936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3963070"/>
            <a:ext cx="7848600" cy="28575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4182145"/>
            <a:ext cx="68580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600200" y="4182145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LAMINAR CFD · VERIFIED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4553620"/>
            <a:ext cx="737768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refinement changes the observables by less than 1%. Profile error </a:t>
            </a:r>
            <a:r>
              <a:rPr lang="en-US" sz="2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3.18%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pressure-gradient error </a:t>
            </a:r>
            <a:r>
              <a:rPr lang="en-US" sz="2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1.24%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0" y="3963070"/>
            <a:ext cx="7848600" cy="28575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525000" y="4182145"/>
            <a:ext cx="68580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210800" y="4182145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TURBULENT CFD · VALIDATED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10800" y="4553620"/>
            <a:ext cx="7377684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the lowest profile RMSE and 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0.018984, </a:t>
            </a:r>
            <a:r>
              <a:rPr lang="en-US" sz="2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0.082% 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experiment.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5763295"/>
            <a:ext cx="7848600" cy="28575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14400" y="5982370"/>
            <a:ext cx="685800" cy="1245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600200" y="5982370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 CHAIN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6353845"/>
            <a:ext cx="7377684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load cell, 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875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0.9999988. Near-zero loads settle slowly and bound the interpretation of mean lift.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0" y="5763295"/>
            <a:ext cx="7848600" cy="28575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525000" y="5982370"/>
            <a:ext cx="685800" cy="1245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210800" y="5982370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CYLINDER WAKE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10800" y="6353845"/>
            <a:ext cx="7377684" cy="873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b="1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C̅</a:t>
            </a:r>
            <a:r>
              <a:rPr lang="en-US" sz="1875" b="1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</a:t>
            </a:r>
            <a:r>
              <a:rPr lang="en-US" sz="2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1.499 ± 0.076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50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C̅</a:t>
            </a:r>
            <a:r>
              <a:rPr lang="en-US" sz="1875" baseline="-4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−0.028 ± 0.057. Coherent shedding at </a:t>
            </a:r>
            <a:r>
              <a:rPr lang="en-US" sz="2250" b="1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</a:t>
            </a:r>
            <a:r>
              <a:rPr lang="en-US" sz="2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0.181–0.204</a:t>
            </a:r>
            <a:r>
              <a:rPr lang="en-US" sz="2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9508852"/>
            <a:ext cx="1810512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result is stated together with its reference, its error and the conditions under which it holds.</a:t>
            </a:r>
            <a:endParaRPr lang="en-US" sz="21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solidFill>
            <a:srgbClr val="5B64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14936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810512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of validity and extensions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3157538"/>
            <a:ext cx="7772400" cy="28575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2747963"/>
            <a:ext cx="80055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 OF THE RESULTS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319463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14400" y="3462338"/>
            <a:ext cx="22669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3333750" y="3462338"/>
            <a:ext cx="55136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quantified pairwise, below 1% on the final refinement in both regimes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4289971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14400" y="4432846"/>
            <a:ext cx="22669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3333750" y="4432846"/>
            <a:ext cx="55136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ranking established for the implemented mesh and wall treatment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14400" y="5260479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14400" y="5403354"/>
            <a:ext cx="22669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field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3333750" y="5403354"/>
            <a:ext cx="55136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field and shedding frequency quantitative; vorticity phases describe topology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400" y="6230987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14400" y="6373862"/>
            <a:ext cx="2266950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3333750" y="6373862"/>
            <a:ext cx="5513642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Instrument-chain uncertainty propagated; installation effects bounded by a level-mismatch scenario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14400" y="7548637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14400" y="7691512"/>
            <a:ext cx="22669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Strouhal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3333750" y="7691512"/>
            <a:ext cx="55136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operating points, compared through nondimensional quantities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601200" y="3157538"/>
            <a:ext cx="7772400" cy="28575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601200" y="2747963"/>
            <a:ext cx="80055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 · OUTCOME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1200" y="3319463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601200" y="3462338"/>
            <a:ext cx="393954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Constant-ratio grid triplets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3296900" y="3462338"/>
            <a:ext cx="45720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3792200" y="3462338"/>
            <a:ext cx="393954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GCI and extrapolated solution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601200" y="3942829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601200" y="4085704"/>
            <a:ext cx="3939540" cy="43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First-cell </a:t>
            </a:r>
            <a:r>
              <a:rPr lang="en-US" sz="2025" i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US" sz="1688" baseline="30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296900" y="4085704"/>
            <a:ext cx="45720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3792200" y="4085704"/>
            <a:ext cx="36888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assessment of the low-Re wall treatment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9601200" y="4913337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601200" y="5056212"/>
            <a:ext cx="393954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phase averaging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3296900" y="5056212"/>
            <a:ext cx="45720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3792200" y="5056212"/>
            <a:ext cx="393954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vortex strength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601200" y="5536704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9601200" y="5679579"/>
            <a:ext cx="36888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Blockage and free-surface corrections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3296900" y="5679579"/>
            <a:ext cx="45720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3792200" y="5679579"/>
            <a:ext cx="36888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Unbounded-flow force coefficients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9601200" y="6507212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9601200" y="6650087"/>
            <a:ext cx="36888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PSV and force acquisition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3296900" y="6650087"/>
            <a:ext cx="45720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13792200" y="6650087"/>
            <a:ext cx="3688842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Strouhal cross-validation at one operating point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14400" y="9508852"/>
            <a:ext cx="1810512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verification and validation chain extends directly to each case.</a:t>
            </a:r>
            <a:endParaRPr lang="en-US" sz="21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5B64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4120530"/>
            <a:ext cx="157162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9000" b="1" kern="0" spc="-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material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5568330"/>
            <a:ext cx="157162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31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grid-sensitivity metrics and the assumptions behind the uncertainty budget.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143000" y="8920163"/>
            <a:ext cx="16002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43000" y="9205913"/>
            <a:ext cx="24518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Grid metrics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829124" y="9205913"/>
            <a:ext cx="42497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Uncertainty assumptions</a:t>
            </a:r>
            <a:endParaRPr lang="en-US" sz="1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ln w="19050">
            <a:solidFill>
              <a:srgbClr val="5B64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1327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grid-sensitivity metrics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3403997"/>
            <a:ext cx="2922315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2946797"/>
            <a:ext cx="30099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836715" y="3403997"/>
            <a:ext cx="2984897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836715" y="2946797"/>
            <a:ext cx="30744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821612" y="3403997"/>
            <a:ext cx="3603501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713506" y="2946797"/>
            <a:ext cx="37116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Coarse–medium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25113" y="3403997"/>
            <a:ext cx="2871788" cy="1905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0338959" y="2946797"/>
            <a:ext cx="29579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Medium–fine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156472"/>
            <a:ext cx="292231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14400" y="3556397"/>
            <a:ext cx="300998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Laminar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3836715" y="4156472"/>
            <a:ext cx="298489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836715" y="3556397"/>
            <a:ext cx="307444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821612" y="4156472"/>
            <a:ext cx="360350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713506" y="3556397"/>
            <a:ext cx="371160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2.359%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425113" y="4156472"/>
            <a:ext cx="287178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338959" y="3556397"/>
            <a:ext cx="295794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0.521%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4894659"/>
            <a:ext cx="292231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3836715" y="4894659"/>
            <a:ext cx="298489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836715" y="4299347"/>
            <a:ext cx="3074444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Axial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6821612" y="4894659"/>
            <a:ext cx="360350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713506" y="4299347"/>
            <a:ext cx="3711606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0.412%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0425113" y="4894659"/>
            <a:ext cx="287178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338959" y="4299347"/>
            <a:ext cx="2957941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0.225%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914400" y="5632847"/>
            <a:ext cx="292231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3836715" y="5632847"/>
            <a:ext cx="298489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836715" y="5037534"/>
            <a:ext cx="3074444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6821612" y="5632847"/>
            <a:ext cx="360350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713506" y="5037534"/>
            <a:ext cx="3711606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1.438%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0425113" y="5632847"/>
            <a:ext cx="287178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10338959" y="5037534"/>
            <a:ext cx="2957941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0.925%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914400" y="6371034"/>
            <a:ext cx="292231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914400" y="5775722"/>
            <a:ext cx="3009984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Turbulent</a:t>
            </a:r>
            <a:endParaRPr lang="en-US" sz="2550" dirty="0"/>
          </a:p>
        </p:txBody>
      </p:sp>
      <p:sp>
        <p:nvSpPr>
          <p:cNvPr id="38" name="Shape 36"/>
          <p:cNvSpPr/>
          <p:nvPr/>
        </p:nvSpPr>
        <p:spPr>
          <a:xfrm>
            <a:off x="3836715" y="6371034"/>
            <a:ext cx="298489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3836715" y="5775722"/>
            <a:ext cx="3074444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6821612" y="6371034"/>
            <a:ext cx="360350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6713506" y="5775722"/>
            <a:ext cx="3711606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0.842%</a:t>
            </a:r>
            <a:endParaRPr lang="en-US" sz="2550" dirty="0"/>
          </a:p>
        </p:txBody>
      </p:sp>
      <p:sp>
        <p:nvSpPr>
          <p:cNvPr id="42" name="Shape 40"/>
          <p:cNvSpPr/>
          <p:nvPr/>
        </p:nvSpPr>
        <p:spPr>
          <a:xfrm>
            <a:off x="10425113" y="6371034"/>
            <a:ext cx="287178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10338959" y="5775722"/>
            <a:ext cx="2957941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0.242%</a:t>
            </a:r>
            <a:endParaRPr lang="en-US" sz="2550" dirty="0"/>
          </a:p>
        </p:txBody>
      </p:sp>
      <p:sp>
        <p:nvSpPr>
          <p:cNvPr id="44" name="Shape 42"/>
          <p:cNvSpPr/>
          <p:nvPr/>
        </p:nvSpPr>
        <p:spPr>
          <a:xfrm>
            <a:off x="914400" y="7109222"/>
            <a:ext cx="292231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3836715" y="7109222"/>
            <a:ext cx="298489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3836715" y="6513909"/>
            <a:ext cx="3074444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Axial</a:t>
            </a:r>
            <a:endParaRPr lang="en-US" sz="2550" dirty="0"/>
          </a:p>
        </p:txBody>
      </p:sp>
      <p:sp>
        <p:nvSpPr>
          <p:cNvPr id="47" name="Shape 45"/>
          <p:cNvSpPr/>
          <p:nvPr/>
        </p:nvSpPr>
        <p:spPr>
          <a:xfrm>
            <a:off x="6821612" y="7109222"/>
            <a:ext cx="360350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713506" y="6513909"/>
            <a:ext cx="3711606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0.260%</a:t>
            </a:r>
            <a:endParaRPr lang="en-US" sz="2550" dirty="0"/>
          </a:p>
        </p:txBody>
      </p:sp>
      <p:sp>
        <p:nvSpPr>
          <p:cNvPr id="49" name="Shape 47"/>
          <p:cNvSpPr/>
          <p:nvPr/>
        </p:nvSpPr>
        <p:spPr>
          <a:xfrm>
            <a:off x="10425113" y="7109222"/>
            <a:ext cx="287178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10338959" y="6513909"/>
            <a:ext cx="2957941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0.132%</a:t>
            </a:r>
            <a:endParaRPr lang="en-US" sz="2550" dirty="0"/>
          </a:p>
        </p:txBody>
      </p:sp>
      <p:sp>
        <p:nvSpPr>
          <p:cNvPr id="51" name="Shape 49"/>
          <p:cNvSpPr/>
          <p:nvPr/>
        </p:nvSpPr>
        <p:spPr>
          <a:xfrm>
            <a:off x="914400" y="7847409"/>
            <a:ext cx="2922315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3836715" y="7847409"/>
            <a:ext cx="2984897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3836715" y="7252097"/>
            <a:ext cx="3074444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2550" dirty="0"/>
          </a:p>
        </p:txBody>
      </p:sp>
      <p:sp>
        <p:nvSpPr>
          <p:cNvPr id="54" name="Shape 52"/>
          <p:cNvSpPr/>
          <p:nvPr/>
        </p:nvSpPr>
        <p:spPr>
          <a:xfrm>
            <a:off x="6821612" y="7847409"/>
            <a:ext cx="3603501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6713506" y="7252097"/>
            <a:ext cx="3711606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0.625%</a:t>
            </a:r>
            <a:endParaRPr lang="en-US" sz="2550" dirty="0"/>
          </a:p>
        </p:txBody>
      </p:sp>
      <p:sp>
        <p:nvSpPr>
          <p:cNvPr id="56" name="Shape 54"/>
          <p:cNvSpPr/>
          <p:nvPr/>
        </p:nvSpPr>
        <p:spPr>
          <a:xfrm>
            <a:off x="10425113" y="7847409"/>
            <a:ext cx="2871788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10338959" y="7252097"/>
            <a:ext cx="2957941" cy="5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0.366%</a:t>
            </a:r>
            <a:endParaRPr lang="en-US" sz="2550" dirty="0"/>
          </a:p>
        </p:txBody>
      </p:sp>
      <p:sp>
        <p:nvSpPr>
          <p:cNvPr id="58" name="Text 56"/>
          <p:cNvSpPr/>
          <p:nvPr/>
        </p:nvSpPr>
        <p:spPr>
          <a:xfrm>
            <a:off x="914400" y="8166497"/>
            <a:ext cx="13620750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</a:t>
            </a:r>
            <a:r>
              <a:rPr lang="en-US" sz="2250" i="1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875" baseline="-4000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</a:t>
            </a:r>
            <a:r>
              <a:rPr lang="en-US" sz="22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successive grids. Pairwise differences, not an asymptotic GCI.</a:t>
            </a:r>
            <a:endParaRPr lang="en-US" sz="2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2463"/>
            <a:ext cx="133350" cy="133350"/>
          </a:xfrm>
          <a:prstGeom prst="rect">
            <a:avLst/>
          </a:prstGeom>
          <a:ln w="19050">
            <a:solidFill>
              <a:srgbClr val="5B64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200150" y="571500"/>
            <a:ext cx="1327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71777" y="571500"/>
            <a:ext cx="37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assumptions and limitations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3652838"/>
            <a:ext cx="7772400" cy="28575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3243263"/>
            <a:ext cx="80055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PROPAGATED · FIRST ORDER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443413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14399" y="3871913"/>
            <a:ext cx="5461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force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31000" y="3871913"/>
            <a:ext cx="19558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0.045 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5214938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14399" y="4643438"/>
            <a:ext cx="5461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vertical contribution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31000" y="4643438"/>
            <a:ext cx="19558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0.025 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5986463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14400" y="5414963"/>
            <a:ext cx="5461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Depth, channel width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30999" y="5414963"/>
            <a:ext cx="19558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4400" y="6757988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14400" y="6186488"/>
            <a:ext cx="5461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 diameter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31000" y="6186488"/>
            <a:ext cx="19558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 mm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4400" y="7529513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14400" y="6958013"/>
            <a:ext cx="5461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30999" y="6958013"/>
            <a:ext cx="19558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mm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4400" y="8301038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14399" y="7729538"/>
            <a:ext cx="5461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rate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43600" y="7729538"/>
            <a:ext cx="2743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+ meter head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601200" y="4038600"/>
            <a:ext cx="7772400" cy="28575"/>
          </a:xfrm>
          <a:prstGeom prst="rect">
            <a:avLst/>
          </a:prstGeom>
          <a:solidFill>
            <a:srgbClr val="0B7A7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601200" y="3629025"/>
            <a:ext cx="80055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PROPAGATED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01200" y="4829175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601200" y="4257675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Blockage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601200" y="5600700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9601200" y="5029200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Free-surface deformation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601200" y="6372225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9601200" y="5800725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effects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601200" y="7143750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0" y="6572250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9601200" y="7915275"/>
            <a:ext cx="7772400" cy="9525"/>
          </a:xfrm>
          <a:prstGeom prst="rect">
            <a:avLst/>
          </a:prstGeom>
          <a:solidFill>
            <a:srgbClr val="D5D9D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9601200" y="7343775"/>
            <a:ext cx="80055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Non-simultaneous PSV and force acquisitions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2906</Words>
  <Application>Microsoft Office PowerPoint</Application>
  <PresentationFormat>Personalizzato</PresentationFormat>
  <Paragraphs>568</Paragraphs>
  <Slides>34</Slides>
  <Notes>34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7" baseType="lpstr"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Arbizzani</cp:lastModifiedBy>
  <cp:revision>3</cp:revision>
  <dcterms:created xsi:type="dcterms:W3CDTF">2026-09-22T17:48:37Z</dcterms:created>
  <dcterms:modified xsi:type="dcterms:W3CDTF">2026-09-22T23:03:42Z</dcterms:modified>
</cp:coreProperties>
</file>